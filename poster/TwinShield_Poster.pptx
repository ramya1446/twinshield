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801600" cy="9601200"/>
  <p:notesSz cx="9601200" cy="128016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headerFrame"/>
          <p:cNvSpPr/>
          <p:nvPr/>
        </p:nvSpPr>
        <p:spPr>
          <a:xfrm>
            <a:off x="109728" y="109728"/>
            <a:ext cx="12582144" cy="1371600"/>
          </a:xfrm>
          <a:prstGeom prst="rect">
            <a:avLst/>
          </a:prstGeom>
          <a:solidFill>
            <a:srgbClr val="FFFFFF"/>
          </a:solidFill>
          <a:ln w="12700">
            <a:solidFill>
              <a:srgbClr val="0070C0"/>
            </a:solidFill>
            <a:prstDash val="solid"/>
          </a:ln>
        </p:spPr>
      </p:sp>
      <p:pic>
        <p:nvPicPr>
          <p:cNvPr id="3" name="Image 0" descr="/tmp/claude-0/-home-user-Twinshield/28c50788-17b6-5fcf-b899-a73664e0ef5c/scratchpad/poster/assets/vit_logo.png">    </p:cNvPr>
          <p:cNvPicPr>
            <a:picLocks noChangeAspect="1"/>
          </p:cNvPicPr>
          <p:nvPr/>
        </p:nvPicPr>
        <p:blipFill>
          <a:blip r:embed="rId1"/>
          <a:stretch>
            <a:fillRect/>
          </a:stretch>
        </p:blipFill>
        <p:spPr>
          <a:xfrm>
            <a:off x="310896" y="437140"/>
            <a:ext cx="2724912" cy="716777"/>
          </a:xfrm>
          <a:prstGeom prst="rect">
            <a:avLst/>
          </a:prstGeom>
        </p:spPr>
      </p:pic>
      <p:sp>
        <p:nvSpPr>
          <p:cNvPr id="4" name="headerBand"/>
          <p:cNvSpPr/>
          <p:nvPr/>
        </p:nvSpPr>
        <p:spPr>
          <a:xfrm>
            <a:off x="3236976" y="109728"/>
            <a:ext cx="9454896" cy="1371600"/>
          </a:xfrm>
          <a:prstGeom prst="rect">
            <a:avLst/>
          </a:prstGeom>
          <a:solidFill>
            <a:srgbClr val="4472C4"/>
          </a:solidFill>
          <a:ln w="12700">
            <a:solidFill>
              <a:srgbClr val="4472C4"/>
            </a:solidFill>
            <a:prstDash val="solid"/>
          </a:ln>
        </p:spPr>
      </p:sp>
      <p:sp>
        <p:nvSpPr>
          <p:cNvPr id="5" name="Text 2"/>
          <p:cNvSpPr txBox="1"/>
          <p:nvPr/>
        </p:nvSpPr>
        <p:spPr>
          <a:xfrm>
            <a:off x="3438144" y="192024"/>
            <a:ext cx="7315200" cy="566928"/>
          </a:xfrm>
          <a:prstGeom prst="rect">
            <a:avLst/>
          </a:prstGeom>
          <a:noFill/>
          <a:ln/>
        </p:spPr>
        <p:txBody>
          <a:bodyPr wrap="square" lIns="0" tIns="0" rIns="0" bIns="0" rtlCol="0" anchor="ctr"/>
          <a:lstStyle/>
          <a:p>
            <a:pPr indent="0" marL="0">
              <a:lnSpc>
                <a:spcPct val="98000"/>
              </a:lnSpc>
              <a:buNone/>
            </a:pPr>
            <a:r>
              <a:rPr lang="en-US" sz="1550" b="1" dirty="0">
                <a:solidFill>
                  <a:srgbClr val="FFFFFF"/>
                </a:solidFill>
                <a:latin typeface="Arial" pitchFamily="34" charset="0"/>
                <a:ea typeface="Arial" pitchFamily="34" charset="-122"/>
                <a:cs typeface="Arial" pitchFamily="34" charset="-120"/>
              </a:rPr>
              <a:t>TWINSHIELD-FUSION: DIGITAL-TWIN RESIDUAL GATING FOR</a:t>
            </a:r>
            <a:endParaRPr lang="en-US" sz="1550" dirty="0"/>
          </a:p>
          <a:p>
            <a:pPr indent="0" marL="0">
              <a:lnSpc>
                <a:spcPct val="98000"/>
              </a:lnSpc>
              <a:buNone/>
            </a:pPr>
            <a:r>
              <a:rPr lang="en-US" sz="1550" b="1" dirty="0">
                <a:solidFill>
                  <a:srgbClr val="FFFFFF"/>
                </a:solidFill>
                <a:latin typeface="Arial" pitchFamily="34" charset="0"/>
                <a:ea typeface="Arial" pitchFamily="34" charset="-122"/>
                <a:cs typeface="Arial" pitchFamily="34" charset="-120"/>
              </a:rPr>
              <a:t>DETECTION OF UNSEEN ATTACKS ON AUTOMOTIVE CAN BUSES</a:t>
            </a:r>
            <a:endParaRPr lang="en-US" sz="1550" dirty="0"/>
          </a:p>
        </p:txBody>
      </p:sp>
      <p:sp>
        <p:nvSpPr>
          <p:cNvPr id="6" name="Text 3"/>
          <p:cNvSpPr txBox="1"/>
          <p:nvPr/>
        </p:nvSpPr>
        <p:spPr>
          <a:xfrm>
            <a:off x="3438144" y="822960"/>
            <a:ext cx="7315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Student Names: </a:t>
            </a:r>
            <a:pPr indent="0" marL="0">
              <a:buNone/>
            </a:pPr>
            <a:r>
              <a:rPr lang="en-US" sz="1050" dirty="0">
                <a:solidFill>
                  <a:srgbClr val="FFFFFF"/>
                </a:solidFill>
                <a:latin typeface="Arial" pitchFamily="34" charset="0"/>
                <a:ea typeface="Arial" pitchFamily="34" charset="-122"/>
                <a:cs typeface="Arial" pitchFamily="34" charset="-120"/>
              </a:rPr>
              <a:t>[Name 1 (Reg. No.)], [Name 2 (Reg. No.)], [Name 3 (Reg. No.)]</a:t>
            </a:r>
            <a:endParaRPr lang="en-US" sz="1050" dirty="0"/>
          </a:p>
        </p:txBody>
      </p:sp>
      <p:sp>
        <p:nvSpPr>
          <p:cNvPr id="7" name="Text 4"/>
          <p:cNvSpPr txBox="1"/>
          <p:nvPr/>
        </p:nvSpPr>
        <p:spPr>
          <a:xfrm>
            <a:off x="3438144" y="1028700"/>
            <a:ext cx="7315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Guide Name: </a:t>
            </a:r>
            <a:pPr indent="0" marL="0">
              <a:buNone/>
            </a:pPr>
            <a:r>
              <a:rPr lang="en-US" sz="1050" dirty="0">
                <a:solidFill>
                  <a:srgbClr val="FFFFFF"/>
                </a:solidFill>
                <a:latin typeface="Arial" pitchFamily="34" charset="0"/>
                <a:ea typeface="Arial" pitchFamily="34" charset="-122"/>
                <a:cs typeface="Arial" pitchFamily="34" charset="-120"/>
              </a:rPr>
              <a:t>[Dr. Guide Name (Emp. ID)]</a:t>
            </a:r>
            <a:endParaRPr lang="en-US" sz="1050" dirty="0"/>
          </a:p>
        </p:txBody>
      </p:sp>
      <p:sp>
        <p:nvSpPr>
          <p:cNvPr id="8" name="Text 5"/>
          <p:cNvSpPr txBox="1"/>
          <p:nvPr/>
        </p:nvSpPr>
        <p:spPr>
          <a:xfrm>
            <a:off x="3438144" y="1234440"/>
            <a:ext cx="7315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School: </a:t>
            </a:r>
            <a:pPr indent="0" marL="0">
              <a:buNone/>
            </a:pPr>
            <a:r>
              <a:rPr lang="en-US" sz="1050" dirty="0">
                <a:solidFill>
                  <a:srgbClr val="FFFFFF"/>
                </a:solidFill>
                <a:latin typeface="Arial" pitchFamily="34" charset="0"/>
                <a:ea typeface="Arial" pitchFamily="34" charset="-122"/>
                <a:cs typeface="Arial" pitchFamily="34" charset="-120"/>
              </a:rPr>
              <a:t>[School Name], VIT Chennai</a:t>
            </a:r>
            <a:endParaRPr lang="en-US" sz="1050" dirty="0"/>
          </a:p>
        </p:txBody>
      </p:sp>
      <p:pic>
        <p:nvPicPr>
          <p:cNvPr id="9" name="Image 1" descr="/tmp/claude-0/-home-user-Twinshield/28c50788-17b6-5fcf-b899-a73664e0ef5c/scratchpad/poster/assets/vnest.png">    </p:cNvPr>
          <p:cNvPicPr>
            <a:picLocks noChangeAspect="1"/>
          </p:cNvPicPr>
          <p:nvPr/>
        </p:nvPicPr>
        <p:blipFill>
          <a:blip r:embed="rId2"/>
          <a:stretch>
            <a:fillRect/>
          </a:stretch>
        </p:blipFill>
        <p:spPr>
          <a:xfrm>
            <a:off x="10625328" y="393192"/>
            <a:ext cx="1810512" cy="804672"/>
          </a:xfrm>
          <a:prstGeom prst="rect">
            <a:avLst/>
          </a:prstGeom>
        </p:spPr>
      </p:pic>
      <p:sp>
        <p:nvSpPr>
          <p:cNvPr id="10" name="column1"/>
          <p:cNvSpPr/>
          <p:nvPr/>
        </p:nvSpPr>
        <p:spPr>
          <a:xfrm>
            <a:off x="109728" y="1572768"/>
            <a:ext cx="4105656" cy="7918704"/>
          </a:xfrm>
          <a:prstGeom prst="rect">
            <a:avLst/>
          </a:prstGeom>
          <a:solidFill>
            <a:srgbClr val="FFFFFF"/>
          </a:solidFill>
          <a:ln w="12700">
            <a:solidFill>
              <a:srgbClr val="0070C0"/>
            </a:solidFill>
            <a:prstDash val="solid"/>
          </a:ln>
        </p:spPr>
      </p:sp>
      <p:sp>
        <p:nvSpPr>
          <p:cNvPr id="11" name="column2"/>
          <p:cNvSpPr/>
          <p:nvPr/>
        </p:nvSpPr>
        <p:spPr>
          <a:xfrm>
            <a:off x="4347972" y="1572768"/>
            <a:ext cx="4105656" cy="7918704"/>
          </a:xfrm>
          <a:prstGeom prst="rect">
            <a:avLst/>
          </a:prstGeom>
          <a:solidFill>
            <a:srgbClr val="FFFFFF"/>
          </a:solidFill>
          <a:ln w="12700">
            <a:solidFill>
              <a:srgbClr val="0070C0"/>
            </a:solidFill>
            <a:prstDash val="solid"/>
          </a:ln>
        </p:spPr>
      </p:sp>
      <p:sp>
        <p:nvSpPr>
          <p:cNvPr id="12" name="column3"/>
          <p:cNvSpPr/>
          <p:nvPr/>
        </p:nvSpPr>
        <p:spPr>
          <a:xfrm>
            <a:off x="8586216" y="1572768"/>
            <a:ext cx="4105656" cy="7918704"/>
          </a:xfrm>
          <a:prstGeom prst="rect">
            <a:avLst/>
          </a:prstGeom>
          <a:solidFill>
            <a:srgbClr val="FFFFFF"/>
          </a:solidFill>
          <a:ln w="12700">
            <a:solidFill>
              <a:srgbClr val="0070C0"/>
            </a:solidFill>
            <a:prstDash val="solid"/>
          </a:ln>
        </p:spPr>
      </p:sp>
      <p:sp>
        <p:nvSpPr>
          <p:cNvPr id="13" name="Text 9"/>
          <p:cNvSpPr txBox="1"/>
          <p:nvPr/>
        </p:nvSpPr>
        <p:spPr>
          <a:xfrm>
            <a:off x="265176" y="1728216"/>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MOTIVATION / INTRODUCTION</a:t>
            </a:r>
            <a:endParaRPr lang="en-US" sz="1350" dirty="0"/>
          </a:p>
        </p:txBody>
      </p:sp>
      <p:sp>
        <p:nvSpPr>
          <p:cNvPr id="14" name="Text 10"/>
          <p:cNvSpPr txBox="1"/>
          <p:nvPr/>
        </p:nvSpPr>
        <p:spPr>
          <a:xfrm>
            <a:off x="265176" y="2002536"/>
            <a:ext cx="3794760" cy="2008022"/>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An electric vehicle carries its braking, steering and propulsion commands on the CAN bus, a broadcast network with no sender identity and no authentication.</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Any node on the bus can forge any message, and the protocol cannot change without replacing every ECU, so intrusion detection is the only practical defence.</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Published detectors are trained and tested on a fixed attack catalogue and report over 99% accuracy on it.</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An attack outside that catalogue has no output class to land on, so the model reports it as Normal. This is the zero-day failure.</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The benchmark is also weak: on GEM-CAN a lookup table on the arbitration identifier alone reaches 98.9% accuracy.</a:t>
            </a:r>
            <a:endParaRPr lang="en-US" sz="1000" dirty="0"/>
          </a:p>
        </p:txBody>
      </p:sp>
      <p:sp>
        <p:nvSpPr>
          <p:cNvPr id="15" name="Text 11"/>
          <p:cNvSpPr txBox="1"/>
          <p:nvPr/>
        </p:nvSpPr>
        <p:spPr>
          <a:xfrm>
            <a:off x="265176" y="4111142"/>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OBJECTIVES</a:t>
            </a:r>
            <a:endParaRPr lang="en-US" sz="1350" dirty="0"/>
          </a:p>
        </p:txBody>
      </p:sp>
      <p:sp>
        <p:nvSpPr>
          <p:cNvPr id="16" name="Text 12"/>
          <p:cNvSpPr txBox="1"/>
          <p:nvPr/>
        </p:nvSpPr>
        <p:spPr>
          <a:xfrm>
            <a:off x="265176" y="4385462"/>
            <a:ext cx="3794760" cy="1764792"/>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Fit a GRU digital twin that predicts the next CAN payload of each identifier from attack-free traffic only.</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Turn the prediction residual into a calibrated two-view anomaly gate, per frame and per ECU stream.</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Fuse that gate with a supervised CNN-BiLSTM classifier that names known attacks.</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Evaluate under a leave-one-attack-out protocol with a four-stage quarantine.</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Quantify the false-alarm cost and state where the method fails.</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Test whether the result survives a second, independent dataset.</a:t>
            </a:r>
            <a:endParaRPr lang="en-US" sz="1000" dirty="0"/>
          </a:p>
        </p:txBody>
      </p:sp>
      <p:sp>
        <p:nvSpPr>
          <p:cNvPr id="17" name="Text 13"/>
          <p:cNvSpPr txBox="1"/>
          <p:nvPr/>
        </p:nvSpPr>
        <p:spPr>
          <a:xfrm>
            <a:off x="265176" y="6250838"/>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SCOPE AND APPLICATIONS</a:t>
            </a:r>
            <a:endParaRPr lang="en-US" sz="1350" dirty="0"/>
          </a:p>
        </p:txBody>
      </p:sp>
      <p:sp>
        <p:nvSpPr>
          <p:cNvPr id="18" name="Text 14"/>
          <p:cNvSpPr txBox="1"/>
          <p:nvPr/>
        </p:nvSpPr>
        <p:spPr>
          <a:xfrm>
            <a:off x="265176" y="6525158"/>
            <a:ext cx="3794760" cy="1384402"/>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In-vehicle intrusion detection for electric and drive-by-wire platforms.</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Applies to any CAN capture with per-frame labels; a converter maps third-party datasets onto the same schema.</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Supports security-operations triage and post-incident forensics on vehicle fleets.</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 Streamlit application replays captures live, shows the residual per ECU and explains decisions with SHAP.</a:t>
            </a:r>
            <a:endParaRPr lang="en-US" sz="1000" dirty="0"/>
          </a:p>
        </p:txBody>
      </p:sp>
      <p:sp>
        <p:nvSpPr>
          <p:cNvPr id="19" name="Text 15"/>
          <p:cNvSpPr txBox="1"/>
          <p:nvPr/>
        </p:nvSpPr>
        <p:spPr>
          <a:xfrm>
            <a:off x="265176" y="8010144"/>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SDG ALIGNMENT</a:t>
            </a:r>
            <a:endParaRPr lang="en-US" sz="1350" dirty="0"/>
          </a:p>
        </p:txBody>
      </p:sp>
      <p:sp>
        <p:nvSpPr>
          <p:cNvPr id="20" name="Text 16"/>
          <p:cNvSpPr txBox="1"/>
          <p:nvPr/>
        </p:nvSpPr>
        <p:spPr>
          <a:xfrm>
            <a:off x="265176" y="8284464"/>
            <a:ext cx="3794760" cy="488290"/>
          </a:xfrm>
          <a:prstGeom prst="rect">
            <a:avLst/>
          </a:prstGeom>
          <a:noFill/>
          <a:ln/>
        </p:spPr>
        <p:txBody>
          <a:bodyPr wrap="square" lIns="0" tIns="0" rIns="0" bIns="0" rtlCol="0" anchor="ctr"/>
          <a:lstStyle/>
          <a:p>
            <a:pPr algn="just" indent="0" marL="0">
              <a:lnSpc>
                <a:spcPct val="94000"/>
              </a:lnSpc>
              <a:buNone/>
            </a:pPr>
            <a:r>
              <a:rPr lang="en-US" sz="1000" b="1" dirty="0">
                <a:solidFill>
                  <a:srgbClr val="231F20"/>
                </a:solidFill>
                <a:latin typeface="Times New Roman" pitchFamily="34" charset="0"/>
                <a:ea typeface="Times New Roman" pitchFamily="34" charset="-122"/>
                <a:cs typeface="Times New Roman" pitchFamily="34" charset="-120"/>
              </a:rPr>
              <a:t>SDG 9 </a:t>
            </a:r>
            <a:pPr algn="just" indent="0" marL="0">
              <a:lnSpc>
                <a:spcPct val="94000"/>
              </a:lnSpc>
              <a:buNone/>
            </a:pPr>
            <a:r>
              <a:rPr lang="en-US" sz="1000" dirty="0">
                <a:solidFill>
                  <a:srgbClr val="231F20"/>
                </a:solidFill>
                <a:latin typeface="Times New Roman" pitchFamily="34" charset="0"/>
                <a:ea typeface="Times New Roman" pitchFamily="34" charset="-122"/>
                <a:cs typeface="Times New Roman" pitchFamily="34" charset="-120"/>
              </a:rPr>
              <a:t>- Industry, Innovation and Infrastructure: resilient safety-critical transport systems. </a:t>
            </a:r>
            <a:pPr algn="just" indent="0" marL="0">
              <a:lnSpc>
                <a:spcPct val="94000"/>
              </a:lnSpc>
              <a:buNone/>
            </a:pPr>
            <a:r>
              <a:rPr lang="en-US" sz="1000" b="1" dirty="0">
                <a:solidFill>
                  <a:srgbClr val="231F20"/>
                </a:solidFill>
                <a:latin typeface="Times New Roman" pitchFamily="34" charset="0"/>
                <a:ea typeface="Times New Roman" pitchFamily="34" charset="-122"/>
                <a:cs typeface="Times New Roman" pitchFamily="34" charset="-120"/>
              </a:rPr>
              <a:t>SDG 11 </a:t>
            </a:r>
            <a:pPr algn="just" indent="0" marL="0">
              <a:lnSpc>
                <a:spcPct val="94000"/>
              </a:lnSpc>
              <a:buNone/>
            </a:pPr>
            <a:r>
              <a:rPr lang="en-US" sz="1000" dirty="0">
                <a:solidFill>
                  <a:srgbClr val="231F20"/>
                </a:solidFill>
                <a:latin typeface="Times New Roman" pitchFamily="34" charset="0"/>
                <a:ea typeface="Times New Roman" pitchFamily="34" charset="-122"/>
                <a:cs typeface="Times New Roman" pitchFamily="34" charset="-120"/>
              </a:rPr>
              <a:t>- Sustainable Cities and Communities: trustworthy electric public transport.</a:t>
            </a:r>
            <a:endParaRPr lang="en-US" sz="1000" dirty="0"/>
          </a:p>
        </p:txBody>
      </p:sp>
      <p:sp>
        <p:nvSpPr>
          <p:cNvPr id="21" name="Text 17"/>
          <p:cNvSpPr txBox="1"/>
          <p:nvPr/>
        </p:nvSpPr>
        <p:spPr>
          <a:xfrm>
            <a:off x="4503420" y="1728216"/>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METHODOLOGY</a:t>
            </a:r>
            <a:endParaRPr lang="en-US" sz="1350" dirty="0"/>
          </a:p>
        </p:txBody>
      </p:sp>
      <p:sp>
        <p:nvSpPr>
          <p:cNvPr id="22" name="Text 18"/>
          <p:cNvSpPr txBox="1"/>
          <p:nvPr/>
        </p:nvSpPr>
        <p:spPr>
          <a:xfrm>
            <a:off x="4503420" y="2002536"/>
            <a:ext cx="3794760" cy="2677363"/>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Data: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GEM-CAN, 143,444 real frames from a Polaris GEM e6 electric vehicle - Normal, DoS, brake tampering and steering tampering.</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Features: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eight payload bytes scaled to [0,1], data length code, inter-arrival gap and identifier index, over a 32-frame window.</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Leakage control: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frames are cut into contiguous 256-frame blocks; whole blocks go to train, validation or test.</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Digital twin: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 GRU with 96 hidden units and a 16-dimensional identifier embedding, trained on normal frames only. The residual is r = | actual - predicted |, one value per payload byte.</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Anomaly gate: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a per-identifier, per-byte z-score and a per-ECU windowed z-score; an alarm is raised when the larger crosses a threshold.</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Calibration: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the threshold is the (1 - target FPR) quantile over held-out normal validation frames; no attack frame takes part.</a:t>
            </a:r>
            <a:endParaRPr lang="en-US" sz="1000" dirty="0"/>
          </a:p>
          <a:p>
            <a:pPr algn="just" marL="139700" indent="-139700">
              <a:lnSpc>
                <a:spcPct val="95000"/>
              </a:lnSpc>
              <a:spcAft>
                <a:spcPts val="300"/>
              </a:spcAft>
              <a:buSzPct val="100000"/>
              <a:buChar char="•"/>
            </a:pPr>
            <a:r>
              <a:rPr lang="en-US" sz="1000" b="1" dirty="0">
                <a:solidFill>
                  <a:srgbClr val="231F20"/>
                </a:solidFill>
                <a:latin typeface="Times New Roman" pitchFamily="34" charset="0"/>
                <a:ea typeface="Times New Roman" pitchFamily="34" charset="-122"/>
                <a:cs typeface="Times New Roman" pitchFamily="34" charset="-120"/>
              </a:rPr>
              <a:t>Supervised branch: </a:t>
            </a:r>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CNN, then BiLSTM, then attention-weighted multi-ECU fusion and a softmax head.</a:t>
            </a:r>
            <a:endParaRPr lang="en-US" sz="1000" dirty="0"/>
          </a:p>
        </p:txBody>
      </p:sp>
      <p:sp>
        <p:nvSpPr>
          <p:cNvPr id="23" name="Text 19"/>
          <p:cNvSpPr txBox="1"/>
          <p:nvPr/>
        </p:nvSpPr>
        <p:spPr>
          <a:xfrm>
            <a:off x="4503420" y="4780483"/>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SYSTEM ARCHITECTURE</a:t>
            </a:r>
            <a:endParaRPr lang="en-US" sz="1350" dirty="0"/>
          </a:p>
        </p:txBody>
      </p:sp>
      <p:pic>
        <p:nvPicPr>
          <p:cNvPr id="24" name="Image 2" descr="/tmp/claude-0/-home-user-Twinshield/28c50788-17b6-5fcf-b899-a73664e0ef5c/scratchpad/poster/assets/arch.png">    </p:cNvPr>
          <p:cNvPicPr>
            <a:picLocks noChangeAspect="1"/>
          </p:cNvPicPr>
          <p:nvPr/>
        </p:nvPicPr>
        <p:blipFill>
          <a:blip r:embed="rId3"/>
          <a:stretch>
            <a:fillRect/>
          </a:stretch>
        </p:blipFill>
        <p:spPr>
          <a:xfrm>
            <a:off x="4503420" y="5054803"/>
            <a:ext cx="3794760" cy="1897380"/>
          </a:xfrm>
          <a:prstGeom prst="rect">
            <a:avLst/>
          </a:prstGeom>
        </p:spPr>
      </p:pic>
      <p:sp>
        <p:nvSpPr>
          <p:cNvPr id="25" name="Text 20"/>
          <p:cNvSpPr txBox="1"/>
          <p:nvPr/>
        </p:nvSpPr>
        <p:spPr>
          <a:xfrm>
            <a:off x="4503420" y="6988759"/>
            <a:ext cx="3794760" cy="274320"/>
          </a:xfrm>
          <a:prstGeom prst="rect">
            <a:avLst/>
          </a:prstGeom>
          <a:noFill/>
          <a:ln/>
        </p:spPr>
        <p:txBody>
          <a:bodyPr wrap="square" lIns="0" tIns="0" rIns="0" bIns="0" rtlCol="0" anchor="ctr"/>
          <a:lstStyle/>
          <a:p>
            <a:pPr algn="ctr" indent="0" marL="0">
              <a:lnSpc>
                <a:spcPct val="92000"/>
              </a:lnSpc>
              <a:buNone/>
            </a:pPr>
            <a:r>
              <a:rPr lang="en-US" sz="900" i="1" dirty="0">
                <a:solidFill>
                  <a:srgbClr val="595959"/>
                </a:solidFill>
                <a:latin typeface="Times New Roman" pitchFamily="34" charset="0"/>
                <a:ea typeface="Times New Roman" pitchFamily="34" charset="-122"/>
                <a:cs typeface="Times New Roman" pitchFamily="34" charset="-120"/>
              </a:rPr>
              <a:t>Raw CAN traffic feeds two branches: the twin's residual is standardised and thresholded, the classifier names known attacks, and the gate combines both scores.</a:t>
            </a:r>
            <a:endParaRPr lang="en-US" sz="900" dirty="0"/>
          </a:p>
        </p:txBody>
      </p:sp>
      <p:sp>
        <p:nvSpPr>
          <p:cNvPr id="26" name="Text 21"/>
          <p:cNvSpPr txBox="1"/>
          <p:nvPr/>
        </p:nvSpPr>
        <p:spPr>
          <a:xfrm>
            <a:off x="4503420" y="7354519"/>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ZERO-DAY EVALUATION PROTOCOL</a:t>
            </a:r>
            <a:endParaRPr lang="en-US" sz="1350" dirty="0"/>
          </a:p>
        </p:txBody>
      </p:sp>
      <p:sp>
        <p:nvSpPr>
          <p:cNvPr id="27" name="Text 22"/>
          <p:cNvSpPr txBox="1"/>
          <p:nvPr/>
        </p:nvSpPr>
        <p:spPr>
          <a:xfrm>
            <a:off x="4503420" y="7628839"/>
            <a:ext cx="3794760" cy="1194206"/>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One attack class is removed from four places: the label space, every training context window, the twin's per-ECU history and the gate's calibration set.</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The test split is untouched and still holds all 119 brake-tampering frames.</a:t>
            </a:r>
            <a:endParaRPr lang="en-US" sz="1000" dirty="0"/>
          </a:p>
          <a:p>
            <a:pPr algn="just" marL="139700" indent="-139700">
              <a:lnSpc>
                <a:spcPct val="95000"/>
              </a:lnSpc>
              <a:spcAft>
                <a:spcPts val="300"/>
              </a:spcAft>
              <a:buSzPct val="100000"/>
              <a:buChar char="•"/>
            </a:pPr>
            <a:r>
              <a:rPr lang="en-US" sz="1000" dirty="0">
                <a:solidFill>
                  <a:srgbClr val="231F20"/>
                </a:solidFill>
                <a:latin typeface="Times New Roman" pitchFamily="34" charset="0"/>
                <a:ea typeface="Times New Roman" pitchFamily="34" charset="-122"/>
                <a:cs typeface="Times New Roman" pitchFamily="34" charset="-120"/>
              </a:rPr>
              <a:t>Since one model has a label the others lack, all four are judged on the question any detector must answer: did you raise an alarm?</a:t>
            </a:r>
            <a:endParaRPr lang="en-US" sz="1000" dirty="0"/>
          </a:p>
        </p:txBody>
      </p:sp>
      <p:sp>
        <p:nvSpPr>
          <p:cNvPr id="28" name="Text 23"/>
          <p:cNvSpPr txBox="1"/>
          <p:nvPr/>
        </p:nvSpPr>
        <p:spPr>
          <a:xfrm>
            <a:off x="8741664" y="1728216"/>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RESULTS AND EVALUATION</a:t>
            </a:r>
            <a:endParaRPr lang="en-US" sz="13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8741664" y="2002536"/>
          <a:ext cx="3794760" cy="914400"/>
        </p:xfrm>
        <a:graphic>
          <a:graphicData uri="http://schemas.openxmlformats.org/drawingml/2006/table">
            <a:tbl>
              <a:tblPr/>
              <a:tblGrid>
                <a:gridCol w="1298448"/>
                <a:gridCol w="868680"/>
                <a:gridCol w="932688"/>
                <a:gridCol w="694944"/>
              </a:tblGrid>
              <a:tr h="182880">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Model</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Closed-set</a:t>
                      </a:r>
                      <a:endParaRPr lang="en-US" sz="900" dirty="0">
                        <a:latin typeface="Times New Roman" charset="0"/>
                        <a:ea typeface="Times New Roman" charset="0"/>
                        <a:cs typeface="Times New Roman" charset="0"/>
                      </a:endParaRPr>
                    </a:p>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macro-F1</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Unseen attack</a:t>
                      </a:r>
                      <a:endParaRPr lang="en-US" sz="900" dirty="0">
                        <a:latin typeface="Times New Roman" charset="0"/>
                        <a:ea typeface="Times New Roman" charset="0"/>
                        <a:cs typeface="Times New Roman" charset="0"/>
                      </a:endParaRPr>
                    </a:p>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detected</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False</a:t>
                      </a:r>
                      <a:endParaRPr lang="en-US" sz="900" dirty="0">
                        <a:latin typeface="Times New Roman" charset="0"/>
                        <a:ea typeface="Times New Roman" charset="0"/>
                        <a:cs typeface="Times New Roman" charset="0"/>
                      </a:endParaRPr>
                    </a:p>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alarms</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182880">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CNN</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0.9968</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0.84%</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0.03%</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182880">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BiLSTM</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0.9948</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0.00%</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0.08%</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182880">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CNN-BiLSTM</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0.9979</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25.21%</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31F20"/>
                          </a:solidFill>
                          <a:latin typeface="Times New Roman" pitchFamily="34" charset="0"/>
                          <a:ea typeface="Times New Roman" pitchFamily="34" charset="-122"/>
                          <a:cs typeface="Times New Roman" pitchFamily="34" charset="-120"/>
                        </a:rPr>
                        <a:t>0.31%</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r h="182880">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TwinShield-Fusion</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0.9979</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100.00%</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31F20"/>
                          </a:solidFill>
                          <a:latin typeface="Times New Roman" pitchFamily="34" charset="0"/>
                          <a:ea typeface="Times New Roman" pitchFamily="34" charset="-122"/>
                          <a:cs typeface="Times New Roman" pitchFamily="34" charset="-120"/>
                        </a:rPr>
                        <a:t>2.26%</a:t>
                      </a:r>
                      <a:endParaRPr lang="en-US" sz="900" dirty="0">
                        <a:latin typeface="Times New Roman" charset="0"/>
                        <a:ea typeface="Times New Roman" charset="0"/>
                        <a:cs typeface="Times New Roman" charset="0"/>
                      </a:endParaRPr>
                    </a:p>
                  </a:txBody>
                  <a:tcPr marL="25400" marR="25400" marT="25400" marB="2540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r>
            </a:tbl>
          </a:graphicData>
        </a:graphic>
      </p:graphicFrame>
      <p:pic>
        <p:nvPicPr>
          <p:cNvPr id="30" name="Image 3" descr="/tmp/claude-0/-home-user-Twinshield/28c50788-17b6-5fcf-b899-a73664e0ef5c/scratchpad/poster/assets/p_image3.png">    </p:cNvPr>
          <p:cNvPicPr>
            <a:picLocks noChangeAspect="1"/>
          </p:cNvPicPr>
          <p:nvPr/>
        </p:nvPicPr>
        <p:blipFill>
          <a:blip r:embed="rId4"/>
          <a:stretch>
            <a:fillRect/>
          </a:stretch>
        </p:blipFill>
        <p:spPr>
          <a:xfrm>
            <a:off x="9578340" y="3026664"/>
            <a:ext cx="2121408" cy="1472973"/>
          </a:xfrm>
          <a:prstGeom prst="rect">
            <a:avLst/>
          </a:prstGeom>
        </p:spPr>
      </p:pic>
      <p:sp>
        <p:nvSpPr>
          <p:cNvPr id="31" name="Text 24"/>
          <p:cNvSpPr txBox="1"/>
          <p:nvPr/>
        </p:nvSpPr>
        <p:spPr>
          <a:xfrm>
            <a:off x="8741664" y="4536213"/>
            <a:ext cx="3794760" cy="274320"/>
          </a:xfrm>
          <a:prstGeom prst="rect">
            <a:avLst/>
          </a:prstGeom>
          <a:noFill/>
          <a:ln/>
        </p:spPr>
        <p:txBody>
          <a:bodyPr wrap="square" lIns="0" tIns="0" rIns="0" bIns="0" rtlCol="0" anchor="ctr"/>
          <a:lstStyle/>
          <a:p>
            <a:pPr algn="ctr" indent="0" marL="0">
              <a:lnSpc>
                <a:spcPct val="92000"/>
              </a:lnSpc>
              <a:buNone/>
            </a:pPr>
            <a:r>
              <a:rPr lang="en-US" sz="900" i="1" dirty="0">
                <a:solidFill>
                  <a:srgbClr val="595959"/>
                </a:solidFill>
                <a:latin typeface="Times New Roman" pitchFamily="34" charset="0"/>
                <a:ea typeface="Times New Roman" pitchFamily="34" charset="-122"/>
                <a:cs typeface="Times New Roman" pitchFamily="34" charset="-120"/>
              </a:rPr>
              <a:t>Leave-one-attack-out: brake tampering removed from every training stage; detection on its 119 held-out frames.</a:t>
            </a:r>
            <a:endParaRPr lang="en-US" sz="900" dirty="0"/>
          </a:p>
        </p:txBody>
      </p:sp>
      <p:sp>
        <p:nvSpPr>
          <p:cNvPr id="32" name="Text 25"/>
          <p:cNvSpPr txBox="1"/>
          <p:nvPr/>
        </p:nvSpPr>
        <p:spPr>
          <a:xfrm>
            <a:off x="8741664" y="4901973"/>
            <a:ext cx="3794760" cy="960669"/>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950" dirty="0">
                <a:solidFill>
                  <a:srgbClr val="231F20"/>
                </a:solidFill>
                <a:latin typeface="Times New Roman" pitchFamily="34" charset="0"/>
                <a:ea typeface="Times New Roman" pitchFamily="34" charset="-122"/>
                <a:cs typeface="Times New Roman" pitchFamily="34" charset="-120"/>
              </a:rPr>
              <a:t>On the closed set the four architectures span only 0.0031 macro-F1; under quarantine they separate by 74 points, and every detection comes from the gate, not the classifier.</a:t>
            </a:r>
            <a:endParaRPr lang="en-US" sz="950" dirty="0"/>
          </a:p>
          <a:p>
            <a:pPr algn="just" marL="139700" indent="-139700">
              <a:lnSpc>
                <a:spcPct val="95000"/>
              </a:lnSpc>
              <a:spcAft>
                <a:spcPts val="300"/>
              </a:spcAft>
              <a:buSzPct val="100000"/>
              <a:buChar char="•"/>
            </a:pPr>
            <a:r>
              <a:rPr lang="en-US" sz="950" dirty="0">
                <a:solidFill>
                  <a:srgbClr val="231F20"/>
                </a:solidFill>
                <a:latin typeface="Times New Roman" pitchFamily="34" charset="0"/>
                <a:ea typeface="Times New Roman" pitchFamily="34" charset="-122"/>
                <a:cs typeface="Times New Roman" pitchFamily="34" charset="-120"/>
              </a:rPr>
              <a:t>The residual rises 2.64 to 25.13 bytes on the brake identifier (9.5x) but falls on the steering identifier, which the gate misses. On SynCAN it stays near 1.04x and the gate detects at most 7.07%.</a:t>
            </a:r>
            <a:endParaRPr lang="en-US" sz="950" dirty="0"/>
          </a:p>
        </p:txBody>
      </p:sp>
      <p:sp>
        <p:nvSpPr>
          <p:cNvPr id="33" name="Text 26"/>
          <p:cNvSpPr txBox="1"/>
          <p:nvPr/>
        </p:nvSpPr>
        <p:spPr>
          <a:xfrm>
            <a:off x="8741664" y="5963226"/>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CONCLUSION</a:t>
            </a:r>
            <a:endParaRPr lang="en-US" sz="1350" dirty="0"/>
          </a:p>
        </p:txBody>
      </p:sp>
      <p:sp>
        <p:nvSpPr>
          <p:cNvPr id="34" name="Text 27"/>
          <p:cNvSpPr txBox="1"/>
          <p:nvPr/>
        </p:nvSpPr>
        <p:spPr>
          <a:xfrm>
            <a:off x="8741664" y="6237546"/>
            <a:ext cx="3794760" cy="1006389"/>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950" dirty="0">
                <a:solidFill>
                  <a:srgbClr val="231F20"/>
                </a:solidFill>
                <a:latin typeface="Times New Roman" pitchFamily="34" charset="0"/>
                <a:ea typeface="Times New Roman" pitchFamily="34" charset="-122"/>
                <a:cs typeface="Times New Roman" pitchFamily="34" charset="-120"/>
              </a:rPr>
              <a:t>Closed-set accuracy no longer separates CAN intrusion detectors; a leave-one-attack-out protocol does.</a:t>
            </a:r>
            <a:endParaRPr lang="en-US" sz="950" dirty="0"/>
          </a:p>
          <a:p>
            <a:pPr algn="just" marL="139700" indent="-139700">
              <a:lnSpc>
                <a:spcPct val="95000"/>
              </a:lnSpc>
              <a:spcAft>
                <a:spcPts val="300"/>
              </a:spcAft>
              <a:buSzPct val="100000"/>
              <a:buChar char="•"/>
            </a:pPr>
            <a:r>
              <a:rPr lang="en-US" sz="950" dirty="0">
                <a:solidFill>
                  <a:srgbClr val="231F20"/>
                </a:solidFill>
                <a:latin typeface="Times New Roman" pitchFamily="34" charset="0"/>
                <a:ea typeface="Times New Roman" pitchFamily="34" charset="-122"/>
                <a:cs typeface="Times New Roman" pitchFamily="34" charset="-120"/>
              </a:rPr>
              <a:t>A twin fitted on normal traffic alone detects an attack class no component ever saw, at 2.26% false alarms and 12.0 ms per frame.</a:t>
            </a:r>
            <a:endParaRPr lang="en-US" sz="950" dirty="0"/>
          </a:p>
          <a:p>
            <a:pPr algn="just" marL="139700" indent="-139700">
              <a:lnSpc>
                <a:spcPct val="95000"/>
              </a:lnSpc>
              <a:spcAft>
                <a:spcPts val="300"/>
              </a:spcAft>
              <a:buSzPct val="100000"/>
              <a:buChar char="•"/>
            </a:pPr>
            <a:r>
              <a:rPr lang="en-US" sz="950" dirty="0">
                <a:solidFill>
                  <a:srgbClr val="231F20"/>
                </a:solidFill>
                <a:latin typeface="Times New Roman" pitchFamily="34" charset="0"/>
                <a:ea typeface="Times New Roman" pitchFamily="34" charset="-122"/>
                <a:cs typeface="Times New Roman" pitchFamily="34" charset="-120"/>
              </a:rPr>
              <a:t>Its boundary is measured, not assumed: implausible payloads are caught, plausible ones are not.</a:t>
            </a:r>
            <a:endParaRPr lang="en-US" sz="950" dirty="0"/>
          </a:p>
        </p:txBody>
      </p:sp>
      <p:sp>
        <p:nvSpPr>
          <p:cNvPr id="35" name="Text 28"/>
          <p:cNvSpPr txBox="1"/>
          <p:nvPr/>
        </p:nvSpPr>
        <p:spPr>
          <a:xfrm>
            <a:off x="8741664" y="7344519"/>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REFERENCES</a:t>
            </a:r>
            <a:endParaRPr lang="en-US" sz="1350" dirty="0"/>
          </a:p>
        </p:txBody>
      </p:sp>
      <p:sp>
        <p:nvSpPr>
          <p:cNvPr id="36" name="Text 29"/>
          <p:cNvSpPr txBox="1"/>
          <p:nvPr/>
        </p:nvSpPr>
        <p:spPr>
          <a:xfrm>
            <a:off x="8741664" y="7618839"/>
            <a:ext cx="3794760" cy="1256751"/>
          </a:xfrm>
          <a:prstGeom prst="rect">
            <a:avLst/>
          </a:prstGeom>
          <a:noFill/>
          <a:ln/>
        </p:spPr>
        <p:txBody>
          <a:bodyPr wrap="square" lIns="0" tIns="0" rIns="0" bIns="0" rtlCol="0" anchor="ctr"/>
          <a:lstStyle/>
          <a:p>
            <a:pPr algn="just" marL="139700" indent="-139700">
              <a:lnSpc>
                <a:spcPct val="95000"/>
              </a:lnSpc>
              <a:spcAft>
                <a:spcPts val="300"/>
              </a:spcAft>
              <a:buSzPct val="100000"/>
              <a:buChar char="•"/>
            </a:pPr>
            <a:r>
              <a:rPr lang="en-US" sz="850" dirty="0">
                <a:solidFill>
                  <a:srgbClr val="231F20"/>
                </a:solidFill>
                <a:latin typeface="Times New Roman" pitchFamily="34" charset="0"/>
                <a:ea typeface="Times New Roman" pitchFamily="34" charset="-122"/>
                <a:cs typeface="Times New Roman" pitchFamily="34" charset="-120"/>
              </a:rPr>
              <a:t>ISO 11898-1, Road Vehicles - Controller Area Network, Part 1.</a:t>
            </a:r>
            <a:endParaRPr lang="en-US" sz="850" dirty="0"/>
          </a:p>
          <a:p>
            <a:pPr algn="just" marL="139700" indent="-139700">
              <a:lnSpc>
                <a:spcPct val="95000"/>
              </a:lnSpc>
              <a:spcAft>
                <a:spcPts val="300"/>
              </a:spcAft>
              <a:buSzPct val="100000"/>
              <a:buChar char="•"/>
            </a:pPr>
            <a:r>
              <a:rPr lang="en-US" sz="850" dirty="0">
                <a:solidFill>
                  <a:srgbClr val="231F20"/>
                </a:solidFill>
                <a:latin typeface="Times New Roman" pitchFamily="34" charset="0"/>
                <a:ea typeface="Times New Roman" pitchFamily="34" charset="-122"/>
                <a:cs typeface="Times New Roman" pitchFamily="34" charset="-120"/>
              </a:rPr>
              <a:t>K. Koscher et al., "Experimental security analysis of a modern automobile," IEEE S&amp;P, 2010.</a:t>
            </a:r>
            <a:endParaRPr lang="en-US" sz="850" dirty="0"/>
          </a:p>
          <a:p>
            <a:pPr algn="just" marL="139700" indent="-139700">
              <a:lnSpc>
                <a:spcPct val="95000"/>
              </a:lnSpc>
              <a:spcAft>
                <a:spcPts val="300"/>
              </a:spcAft>
              <a:buSzPct val="100000"/>
              <a:buChar char="•"/>
            </a:pPr>
            <a:r>
              <a:rPr lang="en-US" sz="850" dirty="0">
                <a:solidFill>
                  <a:srgbClr val="231F20"/>
                </a:solidFill>
                <a:latin typeface="Times New Roman" pitchFamily="34" charset="0"/>
                <a:ea typeface="Times New Roman" pitchFamily="34" charset="-122"/>
                <a:cs typeface="Times New Roman" pitchFamily="34" charset="-120"/>
              </a:rPr>
              <a:t>H. M. Song, J. Woo, H. K. Kim, "In-vehicle network IDS using deep CNN," Veh. Commun., 2020.</a:t>
            </a:r>
            <a:endParaRPr lang="en-US" sz="850" dirty="0"/>
          </a:p>
          <a:p>
            <a:pPr algn="just" marL="139700" indent="-139700">
              <a:lnSpc>
                <a:spcPct val="95000"/>
              </a:lnSpc>
              <a:spcAft>
                <a:spcPts val="300"/>
              </a:spcAft>
              <a:buSzPct val="100000"/>
              <a:buChar char="•"/>
            </a:pPr>
            <a:r>
              <a:rPr lang="en-US" sz="850" dirty="0">
                <a:solidFill>
                  <a:srgbClr val="231F20"/>
                </a:solidFill>
                <a:latin typeface="Times New Roman" pitchFamily="34" charset="0"/>
                <a:ea typeface="Times New Roman" pitchFamily="34" charset="-122"/>
                <a:cs typeface="Times New Roman" pitchFamily="34" charset="-120"/>
              </a:rPr>
              <a:t>M. Hanselmann et al., "CANet: Unsupervised IDS for CAN bus data," IEEE Access, 8:58194, 2020.</a:t>
            </a:r>
            <a:endParaRPr lang="en-US" sz="850" dirty="0"/>
          </a:p>
          <a:p>
            <a:pPr algn="just" marL="139700" indent="-139700">
              <a:lnSpc>
                <a:spcPct val="95000"/>
              </a:lnSpc>
              <a:spcAft>
                <a:spcPts val="300"/>
              </a:spcAft>
              <a:buSzPct val="100000"/>
              <a:buChar char="•"/>
            </a:pPr>
            <a:r>
              <a:rPr lang="en-US" sz="850" dirty="0">
                <a:solidFill>
                  <a:srgbClr val="231F20"/>
                </a:solidFill>
                <a:latin typeface="Times New Roman" pitchFamily="34" charset="0"/>
                <a:ea typeface="Times New Roman" pitchFamily="34" charset="-122"/>
                <a:cs typeface="Times New Roman" pitchFamily="34" charset="-120"/>
              </a:rPr>
              <a:t>M. Tavasoli et al., "GEM-CAN: Real-world CAN-bus attack scenarios," 2024.</a:t>
            </a:r>
            <a:endParaRPr lang="en-US" sz="850" dirty="0"/>
          </a:p>
        </p:txBody>
      </p:sp>
      <p:sp>
        <p:nvSpPr>
          <p:cNvPr id="37" name="Text 30"/>
          <p:cNvSpPr txBox="1"/>
          <p:nvPr/>
        </p:nvSpPr>
        <p:spPr>
          <a:xfrm>
            <a:off x="8741664" y="8976174"/>
            <a:ext cx="3794760" cy="237744"/>
          </a:xfrm>
          <a:prstGeom prst="rect">
            <a:avLst/>
          </a:prstGeom>
          <a:noFill/>
          <a:ln/>
        </p:spPr>
        <p:txBody>
          <a:bodyPr wrap="square" lIns="0" tIns="0" rIns="0" bIns="0" rtlCol="0" anchor="ctr"/>
          <a:lstStyle/>
          <a:p>
            <a:pPr indent="0" marL="0">
              <a:buNone/>
            </a:pPr>
            <a:r>
              <a:rPr lang="en-US" sz="1350" b="1" dirty="0">
                <a:solidFill>
                  <a:srgbClr val="0070C0"/>
                </a:solidFill>
                <a:latin typeface="Arial" pitchFamily="34" charset="0"/>
                <a:ea typeface="Arial" pitchFamily="34" charset="-122"/>
                <a:cs typeface="Arial" pitchFamily="34" charset="-120"/>
              </a:rPr>
              <a:t>CONTACT</a:t>
            </a:r>
            <a:endParaRPr lang="en-US" sz="1350" dirty="0"/>
          </a:p>
        </p:txBody>
      </p:sp>
      <p:sp>
        <p:nvSpPr>
          <p:cNvPr id="38" name="Text 31"/>
          <p:cNvSpPr txBox="1"/>
          <p:nvPr/>
        </p:nvSpPr>
        <p:spPr>
          <a:xfrm>
            <a:off x="8741664" y="9250494"/>
            <a:ext cx="3794760" cy="192115"/>
          </a:xfrm>
          <a:prstGeom prst="rect">
            <a:avLst/>
          </a:prstGeom>
          <a:noFill/>
          <a:ln/>
        </p:spPr>
        <p:txBody>
          <a:bodyPr wrap="square" lIns="0" tIns="0" rIns="0" bIns="0" rtlCol="0" anchor="ctr"/>
          <a:lstStyle/>
          <a:p>
            <a:pPr algn="just" indent="0" marL="0">
              <a:lnSpc>
                <a:spcPct val="94000"/>
              </a:lnSpc>
              <a:buNone/>
            </a:pPr>
            <a:r>
              <a:rPr lang="en-US" sz="950" b="1" dirty="0">
                <a:solidFill>
                  <a:srgbClr val="231F20"/>
                </a:solidFill>
                <a:latin typeface="Times New Roman" pitchFamily="34" charset="0"/>
                <a:ea typeface="Times New Roman" pitchFamily="34" charset="-122"/>
                <a:cs typeface="Times New Roman" pitchFamily="34" charset="-120"/>
              </a:rPr>
              <a:t>Email: </a:t>
            </a:r>
            <a:pPr algn="just" indent="0" marL="0">
              <a:lnSpc>
                <a:spcPct val="94000"/>
              </a:lnSpc>
              <a:buNone/>
            </a:pPr>
            <a:r>
              <a:rPr lang="en-US" sz="950" dirty="0">
                <a:solidFill>
                  <a:srgbClr val="231F20"/>
                </a:solidFill>
                <a:latin typeface="Times New Roman" pitchFamily="34" charset="0"/>
                <a:ea typeface="Times New Roman" pitchFamily="34" charset="-122"/>
                <a:cs typeface="Times New Roman" pitchFamily="34" charset="-120"/>
              </a:rPr>
              <a:t>[student@vitstudent.ac.in]   </a:t>
            </a:r>
            <a:pPr algn="just" indent="0" marL="0">
              <a:lnSpc>
                <a:spcPct val="94000"/>
              </a:lnSpc>
              <a:buNone/>
            </a:pPr>
            <a:r>
              <a:rPr lang="en-US" sz="950" b="1" dirty="0">
                <a:solidFill>
                  <a:srgbClr val="231F20"/>
                </a:solidFill>
                <a:latin typeface="Times New Roman" pitchFamily="34" charset="0"/>
                <a:ea typeface="Times New Roman" pitchFamily="34" charset="-122"/>
                <a:cs typeface="Times New Roman" pitchFamily="34" charset="-120"/>
              </a:rPr>
              <a:t>Mobile: </a:t>
            </a:r>
            <a:pPr algn="just" indent="0" marL="0">
              <a:lnSpc>
                <a:spcPct val="94000"/>
              </a:lnSpc>
              <a:buNone/>
            </a:pPr>
            <a:r>
              <a:rPr lang="en-US" sz="950" dirty="0">
                <a:solidFill>
                  <a:srgbClr val="231F20"/>
                </a:solidFill>
                <a:latin typeface="Times New Roman" pitchFamily="34" charset="0"/>
                <a:ea typeface="Times New Roman" pitchFamily="34" charset="-122"/>
                <a:cs typeface="Times New Roman" pitchFamily="34" charset="-120"/>
              </a:rPr>
              <a:t>[+91 XXXXXXXXXX]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TwinShield-Fusion project review poster</dc:title>
  <dc:subject>PptxGenJS Presentation</dc:subject>
  <dc:creator>TwinShield-Fusion</dc:creator>
  <cp:lastModifiedBy>TwinShield-Fusion</cp:lastModifiedBy>
  <cp:revision>1</cp:revision>
  <dcterms:created xsi:type="dcterms:W3CDTF">2026-10-20T14:46:43Z</dcterms:created>
  <dcterms:modified xsi:type="dcterms:W3CDTF">2026-10-20T14:46:43Z</dcterms:modified>
</cp:coreProperties>
</file>