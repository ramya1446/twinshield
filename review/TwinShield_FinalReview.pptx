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300" r:id="rId20"/>
    <p:sldId id="301" r:id="rId28"/>
    <p:sldId id="302" r:id="rId29"/>
    <p:sldId id="303" r:id="rId30"/>
    <p:sldId id="304" r:id="rId31"/>
    <p:sldId id="305" r:id="rId32"/>
    <p:sldId id="306" r:id="rId33"/>
    <p:sldId id="307" r:id="rId22"/>
    <p:sldId id="308" r:id="rId23"/>
    <p:sldId id="316" r:id="rId36"/>
    <p:sldId id="309" r:id="rId24"/>
    <p:sldId id="317" r:id="rId37"/>
    <p:sldId id="310" r:id="rId25"/>
    <p:sldId id="318" r:id="rId38"/>
    <p:sldId id="311" r:id="rId26"/>
    <p:sldId id="312" r:id="rId27"/>
    <p:sldId id="313" r:id="rId21"/>
    <p:sldId id="314" r:id="rId34"/>
    <p:sldId id="315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8" Type="http://schemas.openxmlformats.org/officeDocument/2006/relationships/theme" Target="theme/theme1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9" Type="http://schemas.openxmlformats.org/officeDocument/2006/relationships/tableStyles" Target="tableStyles.xml"/>  <Relationship Id="rId20" Type="http://schemas.openxmlformats.org/officeDocument/2006/relationships/slide" Target="slides/slide14.xml"/>
  <Relationship Id="rId21" Type="http://schemas.openxmlformats.org/officeDocument/2006/relationships/slide" Target="slides/slide15.xml"/>
  <Relationship Id="rId22" Type="http://schemas.openxmlformats.org/officeDocument/2006/relationships/slide" Target="slides/slide16.xml"/>
  <Relationship Id="rId23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  <Relationship Id="rId36" Type="http://schemas.openxmlformats.org/officeDocument/2006/relationships/slide" Target="slides/slide30.xml"/>
  <Relationship Id="rId37" Type="http://schemas.openxmlformats.org/officeDocument/2006/relationships/slide" Target="slides/slide31.xml"/>
  <Relationship Id="rId38" Type="http://schemas.openxmlformats.org/officeDocument/2006/relationships/slide" Target="slides/slide3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AC48D-7A6D-4FC4-9FC8-F27A28CBB76C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1C2CA8-37BF-46AD-A740-5FDD4265D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260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/Relationships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A6F44089-A96A-8E46-E771-BB32F16F4891}"/>
              </a:ext>
            </a:extLst>
          </p:cNvPr>
          <p:cNvSpPr/>
          <p:nvPr/>
        </p:nvSpPr>
        <p:spPr>
          <a:xfrm>
            <a:off x="156593" y="539495"/>
            <a:ext cx="11708029" cy="261850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dirty="0">
                <a:solidFill>
                  <a:srgbClr val="C00000"/>
                </a:solidFill>
                <a:latin typeface="Book Antiqua" panose="02040602050305030304" pitchFamily="18" charset="0"/>
                <a:ea typeface="+mj-ea"/>
                <a:cs typeface="+mj-cs"/>
              </a:rPr>
              <a:t>Digital Twin-Assisted Intrusion Detection for </a:t>
            </a: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b="1" cap="all" dirty="0">
                <a:solidFill>
                  <a:srgbClr val="C00000"/>
                </a:solidFill>
                <a:latin typeface="Book Antiqua" panose="02040602050305030304" pitchFamily="18" charset="0"/>
                <a:ea typeface="+mj-ea"/>
                <a:cs typeface="+mj-cs"/>
              </a:rPr>
              <a:t>In-Vehicle CAN Networks</a:t>
            </a:r>
          </a:p>
        </p:txBody>
      </p:sp>
      <p:sp>
        <p:nvSpPr>
          <p:cNvPr id="30" name="Subtitle Tag"/>
          <p:cNvSpPr txBox="1"/>
          <p:nvPr/>
        </p:nvSpPr>
        <p:spPr>
          <a:xfrm>
            <a:off x="156593" y="3230000"/>
            <a:ext cx="11708029" cy="42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b="1" spc="200" dirty="0">
                <a:solidFill>
                  <a:srgbClr val="426996"/>
                </a:solidFill>
                <a:latin typeface="Book Antiqua" panose="02040602050305030304" pitchFamily="18" charset="0"/>
              </a:rPr>
              <a:t>FINAL REVIEW  •  COMPLETE SYSTEM &amp; FINAL RESULTS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210E52-B21D-EB31-AF52-5C3D70C67FD6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</a:t>
            </a:r>
            <a:endParaRPr lang="en-AE" dirty="0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63147195-6388-1DC5-48F2-8D786DB56147}"/>
              </a:ext>
            </a:extLst>
          </p:cNvPr>
          <p:cNvSpPr/>
          <p:nvPr/>
        </p:nvSpPr>
        <p:spPr>
          <a:xfrm>
            <a:off x="1970402" y="3699996"/>
            <a:ext cx="4561163" cy="245384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Ramya Nakshathra  23BCE1611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Agilan 23BCE1790 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School of Computer Science and Engineering, </a:t>
            </a:r>
            <a:b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Vellore Institute of Technology, Chennai, India</a:t>
            </a: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29D0FD63-431D-988A-5C73-A7ECC070EE18}"/>
              </a:ext>
            </a:extLst>
          </p:cNvPr>
          <p:cNvSpPr/>
          <p:nvPr/>
        </p:nvSpPr>
        <p:spPr>
          <a:xfrm>
            <a:off x="6953509" y="3849096"/>
            <a:ext cx="4760270" cy="1940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b="1" dirty="0">
                <a:solidFill>
                  <a:schemeClr val="tx2"/>
                </a:solidFill>
                <a:latin typeface="Book Antiqua" panose="02040602050305030304" pitchFamily="18" charset="0"/>
              </a:rPr>
              <a:t>Faculty Guide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Anubha Pearline S*</a:t>
            </a:r>
            <a:b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Assistant Professor Grade,</a:t>
            </a:r>
          </a:p>
          <a:p>
            <a:pPr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School of Computer Science and Engineering, </a:t>
            </a:r>
            <a:b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</a:br>
            <a:r>
              <a:rPr lang="en-US" sz="2000" dirty="0">
                <a:solidFill>
                  <a:schemeClr val="tx2"/>
                </a:solidFill>
                <a:latin typeface="Book Antiqua" panose="02040602050305030304" pitchFamily="18" charset="0"/>
              </a:rPr>
              <a:t>Vellore Institute of Technology, Chennai, India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14. Progress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0664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0">
                <a:solidFill>
                  <a:srgbClr val="696969"/>
                </a:solidFill>
                <a:latin typeface="Aptos"/>
              </a:rPr>
              <a:t>Progress against the approved 6-phase plan, as of the final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8988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1: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389888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40" b="1">
                <a:solidFill>
                  <a:srgbClr val="37414B"/>
                </a:solidFill>
                <a:latin typeface="Aptos"/>
              </a:rPr>
              <a:t>Dataset verification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80" y="1371600"/>
            <a:ext cx="6812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Verify GEM-CAN data, labels, CAN IDs, attack classes and data quality.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0080" y="1847088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2: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2194560"/>
            <a:ext cx="2514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40" b="1">
                <a:solidFill>
                  <a:srgbClr val="37414B"/>
                </a:solidFill>
                <a:latin typeface="Aptos"/>
              </a:rPr>
              <a:t>Preprocessing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76272"/>
            <a:ext cx="6812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Clean, normalize and prepare CAN sequences for model training.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2651760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999232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3: Done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99232"/>
            <a:ext cx="2514600" cy="32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40" b="1" dirty="0">
                <a:solidFill>
                  <a:srgbClr val="37414B"/>
                </a:solidFill>
                <a:latin typeface="Aptos"/>
              </a:rPr>
              <a:t>Baseline</a:t>
            </a:r>
            <a:r>
              <a:rPr sz="1540" b="1" dirty="0">
                <a:solidFill>
                  <a:srgbClr val="37414B"/>
                </a:solidFill>
                <a:latin typeface="Aptos"/>
              </a:rPr>
              <a:t>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2980944"/>
            <a:ext cx="6812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Implement CNN, </a:t>
            </a:r>
            <a:r>
              <a:rPr lang="en-IN" sz="1600" dirty="0" err="1">
                <a:latin typeface="Book Antiqua" panose="02040602050305030304" pitchFamily="18" charset="0"/>
              </a:rPr>
              <a:t>BiLSTM</a:t>
            </a:r>
            <a:r>
              <a:rPr lang="en-IN" sz="1600" dirty="0">
                <a:latin typeface="Book Antiqua" panose="02040602050305030304" pitchFamily="18" charset="0"/>
              </a:rPr>
              <a:t> and CNN-</a:t>
            </a:r>
            <a:r>
              <a:rPr lang="en-IN" sz="1600" dirty="0" err="1">
                <a:latin typeface="Book Antiqua" panose="02040602050305030304" pitchFamily="18" charset="0"/>
              </a:rPr>
              <a:t>BiLSTM</a:t>
            </a:r>
            <a:r>
              <a:rPr lang="en-IN" sz="1600" dirty="0">
                <a:latin typeface="Book Antiqua" panose="02040602050305030304" pitchFamily="18" charset="0"/>
              </a:rPr>
              <a:t> baseline models.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40080" y="3456432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3803904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4: 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803904"/>
            <a:ext cx="2514600" cy="32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40" b="1" dirty="0">
                <a:solidFill>
                  <a:srgbClr val="37414B"/>
                </a:solidFill>
                <a:latin typeface="Aptos"/>
              </a:rPr>
              <a:t>Digital Twin Development</a:t>
            </a:r>
            <a:endParaRPr sz="15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26280" y="3785616"/>
            <a:ext cx="6812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Train the GRU Digital Twin and generate behavioural deviation features.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40080" y="4261104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6085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5: Done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608576"/>
            <a:ext cx="2514600" cy="32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40" b="1" dirty="0">
                <a:solidFill>
                  <a:srgbClr val="37414B"/>
                </a:solidFill>
                <a:latin typeface="Aptos"/>
              </a:rPr>
              <a:t>Proposed Model</a:t>
            </a:r>
            <a:endParaRPr sz="15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80" y="4590288"/>
            <a:ext cx="68122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Adaptive multi-ECU residual fusion implemented, tuned and evaluated. </a:t>
            </a:r>
            <a:r>
              <a:rPr lang="en-IN" sz="1600" dirty="0" err="1">
                <a:latin typeface="Book Antiqua" panose="02040602050305030304" pitchFamily="18" charset="0"/>
              </a:rPr>
              <a:t>TwinShield</a:t>
            </a:r>
            <a:r>
              <a:rPr lang="en-IN" sz="1600" dirty="0">
                <a:latin typeface="Book Antiqua" panose="02040602050305030304" pitchFamily="18" charset="0"/>
              </a:rPr>
              <a:t>-Fusion.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40080" y="5132070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5413248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20" b="1">
                <a:solidFill>
                  <a:srgbClr val="695391"/>
                </a:solidFill>
                <a:latin typeface="Aptos"/>
              </a:rPr>
              <a:t>Phase 6: Done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74519" y="5413248"/>
            <a:ext cx="2514600" cy="32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40" b="1" dirty="0">
                <a:solidFill>
                  <a:srgbClr val="37414B"/>
                </a:solidFill>
                <a:latin typeface="Aptos"/>
              </a:rPr>
              <a:t>Final evaluation</a:t>
            </a:r>
            <a:r>
              <a:rPr lang="en-IN" sz="1540" b="1" dirty="0">
                <a:solidFill>
                  <a:srgbClr val="37414B"/>
                </a:solidFill>
                <a:latin typeface="Aptos"/>
              </a:rPr>
              <a:t> </a:t>
            </a:r>
            <a:endParaRPr sz="15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80" y="5394960"/>
            <a:ext cx="68122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600" dirty="0">
                <a:latin typeface="Book Antiqua" panose="02040602050305030304" pitchFamily="18" charset="0"/>
              </a:rPr>
              <a:t>Baseline vs. proposed comparison, ablation, SHAP, leave-one-attack-out and a second dataset all complete; report and paper written.</a:t>
            </a:r>
            <a:endParaRPr sz="148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27017" y="5950458"/>
            <a:ext cx="10744200" cy="914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6E0D5D-DF77-E346-945E-98E0FF00CC66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17</a:t>
            </a:r>
            <a:endParaRPr lang="en-AE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D406-58F5-593D-4D88-F2F4AB94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EEAAD5-4698-FE43-C27D-666FCA396DFD}"/>
              </a:ext>
            </a:extLst>
          </p:cNvPr>
          <p:cNvSpPr txBox="1"/>
          <p:nvPr/>
        </p:nvSpPr>
        <p:spPr>
          <a:xfrm>
            <a:off x="708877" y="359227"/>
            <a:ext cx="11109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1C1C1C"/>
                </a:solidFill>
                <a:latin typeface="Book Antiqua" panose="02040602050305030304" pitchFamily="18" charset="0"/>
              </a:rPr>
              <a:t>5. Implementation Status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35614-F933-CC18-A373-AE1D1900DD3A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A91C47-B7E2-D37E-26B2-F7025DDC7B4E}"/>
              </a:ext>
            </a:extLst>
          </p:cNvPr>
          <p:cNvSpPr/>
          <p:nvPr/>
        </p:nvSpPr>
        <p:spPr>
          <a:xfrm>
            <a:off x="548639" y="1434343"/>
            <a:ext cx="5166360" cy="619116"/>
          </a:xfrm>
          <a:prstGeom prst="roundRect">
            <a:avLst/>
          </a:prstGeom>
          <a:solidFill>
            <a:srgbClr val="EDF4FC"/>
          </a:solidFill>
          <a:ln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4E2F9-46F7-D14E-3FF0-AB1AB1E783E0}"/>
              </a:ext>
            </a:extLst>
          </p:cNvPr>
          <p:cNvSpPr txBox="1"/>
          <p:nvPr/>
        </p:nvSpPr>
        <p:spPr>
          <a:xfrm>
            <a:off x="708877" y="1479823"/>
            <a:ext cx="478840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dirty="0">
                <a:solidFill>
                  <a:srgbClr val="37414B"/>
                </a:solidFill>
                <a:latin typeface="Book Antiqua" panose="02040602050305030304" pitchFamily="18" charset="0"/>
              </a:rPr>
              <a:t>Completed modules</a:t>
            </a:r>
            <a:endParaRPr sz="2400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A84FF-D5E9-09B2-6F6A-638C167DFE8A}"/>
              </a:ext>
            </a:extLst>
          </p:cNvPr>
          <p:cNvSpPr txBox="1"/>
          <p:nvPr/>
        </p:nvSpPr>
        <p:spPr>
          <a:xfrm>
            <a:off x="484414" y="2150000"/>
            <a:ext cx="54864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Data pipeline: CAN parsing, windowing, splits.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Baselines trained: CNN, BiLSTM, CNN-BiLSTM.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GRU Digital Twin + residual generation working.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SHAP explainability producing attributions.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4-page Streamlit demo (all 4 pages working).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FC53C7-9513-77DC-9579-668475E57757}"/>
              </a:ext>
            </a:extLst>
          </p:cNvPr>
          <p:cNvSpPr/>
          <p:nvPr/>
        </p:nvSpPr>
        <p:spPr>
          <a:xfrm>
            <a:off x="6309359" y="1434342"/>
            <a:ext cx="5166359" cy="602660"/>
          </a:xfrm>
          <a:prstGeom prst="roundRect">
            <a:avLst/>
          </a:prstGeom>
          <a:solidFill>
            <a:srgbClr val="FCF3E9"/>
          </a:solidFill>
          <a:ln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4073D-8906-ED13-E66B-5AD9F942B393}"/>
              </a:ext>
            </a:extLst>
          </p:cNvPr>
          <p:cNvSpPr txBox="1"/>
          <p:nvPr/>
        </p:nvSpPr>
        <p:spPr>
          <a:xfrm>
            <a:off x="6534912" y="1479823"/>
            <a:ext cx="429637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dirty="0">
                <a:solidFill>
                  <a:srgbClr val="37414B"/>
                </a:solidFill>
                <a:latin typeface="Book Antiqua" panose="02040602050305030304" pitchFamily="18" charset="0"/>
              </a:rPr>
              <a:t>Completed since Review 3</a:t>
            </a:r>
            <a:endParaRPr sz="2400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38976-3A1E-E580-2730-2E7D677AB468}"/>
              </a:ext>
            </a:extLst>
          </p:cNvPr>
          <p:cNvSpPr txBox="1"/>
          <p:nvPr/>
        </p:nvSpPr>
        <p:spPr>
          <a:xfrm>
            <a:off x="6309359" y="2150000"/>
            <a:ext cx="5486400" cy="2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Adaptive multi-ECU residual fusion trained and evaluated.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Full ablation run, with and without the CAN ID.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Leave-one-attack-out protocol, four-stage quarantine.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Second dataset (SynCAN) converted and evaluated.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A814A-65B6-F844-A010-D3ED77259D97}"/>
              </a:ext>
            </a:extLst>
          </p:cNvPr>
          <p:cNvSpPr txBox="1"/>
          <p:nvPr/>
        </p:nvSpPr>
        <p:spPr>
          <a:xfrm>
            <a:off x="609600" y="4750000"/>
            <a:ext cx="54864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solidFill>
                  <a:srgbClr val="C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TwinShield</a:t>
            </a:r>
            <a:r>
              <a:rPr lang="en-US" sz="2400" b="1" dirty="0">
                <a:solidFill>
                  <a:srgbClr val="C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 </a:t>
            </a:r>
            <a:r>
              <a:rPr lang="en-IN" sz="2000" dirty="0">
                <a:latin typeface="Book Antiqua" panose="02040602050305030304" pitchFamily="18" charset="0"/>
              </a:rPr>
              <a:t>the pipeline runs end to end, every planned experiment has been run, and the report and the journal paper are complete.</a:t>
            </a:r>
            <a:endParaRPr lang="en-AE" sz="2000" dirty="0">
              <a:latin typeface="Book Antiqua" panose="0204060205030503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A373F-56E4-AB54-7F91-9C796A05C3DE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8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01162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 dirty="0">
                <a:solidFill>
                  <a:srgbClr val="1C1C1C"/>
                </a:solidFill>
                <a:latin typeface="Aptos"/>
              </a:rPr>
              <a:t>6. Technical Approach and Best Practices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02920" y="1663294"/>
            <a:ext cx="1600200" cy="1417320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754734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37414B"/>
                </a:solidFill>
                <a:latin typeface="Aptos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102206"/>
            <a:ext cx="134416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Book Antiqua" panose="02040602050305030304" pitchFamily="18" charset="0"/>
              </a:rPr>
              <a:t>Real EV CAN Traffic</a:t>
            </a:r>
            <a:br>
              <a:rPr lang="en-IN" sz="1400" dirty="0"/>
            </a:br>
            <a:r>
              <a:rPr lang="en-IN" sz="1400" dirty="0"/>
              <a:t>GEM-CAN</a:t>
            </a:r>
            <a:endParaRPr sz="126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2130552" y="2138782"/>
            <a:ext cx="228600" cy="384048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423160" y="1663293"/>
            <a:ext cx="1600200" cy="1637501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51176" y="1754734"/>
            <a:ext cx="1344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37414B"/>
                </a:solidFill>
                <a:latin typeface="Aptos"/>
              </a:rPr>
              <a:t>Preprocess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6602" y="2002503"/>
            <a:ext cx="1467611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Book Antiqua" panose="02040602050305030304" pitchFamily="18" charset="0"/>
              </a:rPr>
              <a:t>Select relevant CAN IDs and create time-based sequences</a:t>
            </a:r>
            <a:endParaRPr sz="126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050792" y="2138782"/>
            <a:ext cx="228600" cy="384048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4343400" y="1663294"/>
            <a:ext cx="1600200" cy="1417320"/>
          </a:xfrm>
          <a:prstGeom prst="roundRect">
            <a:avLst/>
          </a:prstGeom>
          <a:solidFill>
            <a:srgbClr val="F4EFFA"/>
          </a:solidFill>
          <a:ln w="12700">
            <a:solidFill>
              <a:srgbClr val="69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1754734"/>
            <a:ext cx="1344168" cy="33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50" b="1" dirty="0">
                <a:solidFill>
                  <a:srgbClr val="37414B"/>
                </a:solidFill>
                <a:latin typeface="Aptos"/>
              </a:rPr>
              <a:t>Digital twin</a:t>
            </a:r>
            <a:endParaRPr sz="155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471416" y="2110224"/>
            <a:ext cx="1344168" cy="7386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b="1" dirty="0">
                <a:latin typeface="Book Antiqua" panose="02040602050305030304" pitchFamily="18" charset="0"/>
              </a:rPr>
              <a:t>GRU: </a:t>
            </a:r>
            <a:r>
              <a:rPr lang="en-IN" sz="1400" dirty="0">
                <a:latin typeface="Book Antiqua" panose="02040602050305030304" pitchFamily="18" charset="0"/>
              </a:rPr>
              <a:t>Learn normal CAN behaviour</a:t>
            </a:r>
            <a:endParaRPr sz="126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Chevron 16"/>
          <p:cNvSpPr/>
          <p:nvPr/>
        </p:nvSpPr>
        <p:spPr>
          <a:xfrm>
            <a:off x="5971032" y="2138782"/>
            <a:ext cx="228600" cy="384048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63640" y="1663293"/>
            <a:ext cx="1600200" cy="1621041"/>
          </a:xfrm>
          <a:prstGeom prst="roundRect">
            <a:avLst/>
          </a:prstGeom>
          <a:solidFill>
            <a:srgbClr val="F4EFFA"/>
          </a:solidFill>
          <a:ln w="12700">
            <a:solidFill>
              <a:srgbClr val="6953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91656" y="1754734"/>
            <a:ext cx="1472184" cy="5693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50" b="1" dirty="0">
                <a:solidFill>
                  <a:srgbClr val="37414B"/>
                </a:solidFill>
                <a:latin typeface="Aptos"/>
              </a:rPr>
              <a:t>Residual Fusion</a:t>
            </a:r>
            <a:endParaRPr sz="155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340162" y="2249712"/>
            <a:ext cx="1587686" cy="95410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Book Antiqua" panose="02040602050305030304" pitchFamily="18" charset="0"/>
              </a:rPr>
              <a:t>Generate residuals: Expected vs Actual behaviour</a:t>
            </a:r>
            <a:endParaRPr sz="126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91271" y="2138782"/>
            <a:ext cx="228600" cy="384048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83880" y="1663294"/>
            <a:ext cx="1600200" cy="1417320"/>
          </a:xfrm>
          <a:prstGeom prst="roundRect">
            <a:avLst/>
          </a:prstGeom>
          <a:solidFill>
            <a:srgbClr val="EEF7EF"/>
          </a:solidFill>
          <a:ln w="12700">
            <a:solidFill>
              <a:srgbClr val="4B73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11896" y="1754734"/>
            <a:ext cx="1344168" cy="33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 dirty="0">
                <a:solidFill>
                  <a:srgbClr val="37414B"/>
                </a:solidFill>
                <a:latin typeface="Aptos"/>
              </a:rPr>
              <a:t>De</a:t>
            </a:r>
            <a:r>
              <a:rPr lang="en-IN" sz="1550" b="1" dirty="0" err="1">
                <a:solidFill>
                  <a:srgbClr val="37414B"/>
                </a:solidFill>
                <a:latin typeface="Aptos"/>
              </a:rPr>
              <a:t>tection</a:t>
            </a:r>
            <a:endParaRPr sz="155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11896" y="2102206"/>
            <a:ext cx="1344168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Book Antiqua" panose="02040602050305030304" pitchFamily="18" charset="0"/>
              </a:rPr>
              <a:t>CNN-</a:t>
            </a:r>
            <a:r>
              <a:rPr lang="en-IN" sz="1400" dirty="0" err="1">
                <a:latin typeface="Book Antiqua" panose="02040602050305030304" pitchFamily="18" charset="0"/>
              </a:rPr>
              <a:t>BiLSTM</a:t>
            </a:r>
            <a:r>
              <a:rPr lang="en-IN" sz="1400" dirty="0">
                <a:latin typeface="Book Antiqua" panose="02040602050305030304" pitchFamily="18" charset="0"/>
              </a:rPr>
              <a:t> Classifier</a:t>
            </a:r>
            <a:endParaRPr sz="126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25" name="Chevron 24"/>
          <p:cNvSpPr/>
          <p:nvPr/>
        </p:nvSpPr>
        <p:spPr>
          <a:xfrm>
            <a:off x="9811512" y="2138782"/>
            <a:ext cx="228600" cy="384048"/>
          </a:xfrm>
          <a:prstGeom prst="chevron">
            <a:avLst/>
          </a:prstGeom>
          <a:solidFill>
            <a:srgbClr val="696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104119" y="1663293"/>
            <a:ext cx="1715703" cy="1749247"/>
          </a:xfrm>
          <a:prstGeom prst="roundRect">
            <a:avLst/>
          </a:prstGeom>
          <a:solidFill>
            <a:srgbClr val="FCF3E9"/>
          </a:solidFill>
          <a:ln w="12700"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202503" y="1757646"/>
            <a:ext cx="1456944" cy="330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550" b="1" dirty="0">
                <a:solidFill>
                  <a:srgbClr val="37414B"/>
                </a:solidFill>
                <a:latin typeface="Aptos"/>
              </a:rPr>
              <a:t>Explainability</a:t>
            </a:r>
            <a:endParaRPr sz="155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172700" y="2102206"/>
            <a:ext cx="1647122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400" dirty="0">
                <a:latin typeface="Book Antiqua" panose="02040602050305030304" pitchFamily="18" charset="0"/>
              </a:rPr>
              <a:t>SHAP :Identify which CAN features contribute to the attack prediction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261" y="3747022"/>
            <a:ext cx="2616200" cy="425755"/>
          </a:xfrm>
          <a:prstGeom prst="roundRect">
            <a:avLst/>
          </a:prstGeom>
          <a:solidFill>
            <a:srgbClr val="EDF4FC"/>
          </a:solidFill>
          <a:ln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3328" y="3803445"/>
            <a:ext cx="2543048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dirty="0">
                <a:solidFill>
                  <a:srgbClr val="37414B"/>
                </a:solidFill>
                <a:latin typeface="Aptos"/>
              </a:rPr>
              <a:t>Best practices</a:t>
            </a:r>
            <a:endParaRPr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5800" y="4407408"/>
            <a:ext cx="107899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sz="1600" dirty="0">
                <a:latin typeface="Book Antiqua" panose="02040602050305030304" pitchFamily="18" charset="0"/>
              </a:rPr>
              <a:t>Leakage-controlled split:</a:t>
            </a:r>
            <a:r>
              <a:rPr lang="en-IN" sz="1600" dirty="0">
                <a:latin typeface="Book Antiqua" panose="02040602050305030304" pitchFamily="18" charset="0"/>
              </a:rPr>
              <a:t> contiguous 256-frame blocks assigned whole to train/val/test, no frame’s window crosses a split.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sz="1600" dirty="0">
                <a:latin typeface="Book Antiqua" panose="02040602050305030304" pitchFamily="18" charset="0"/>
              </a:rPr>
              <a:t>Class-weighted loss:</a:t>
            </a:r>
            <a:r>
              <a:rPr lang="en-IN" sz="1600" dirty="0">
                <a:latin typeface="Book Antiqua" panose="02040602050305030304" pitchFamily="18" charset="0"/>
              </a:rPr>
              <a:t> compensates for the ~152:1 Normal-vs-tampering imbalance.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sz="1600" dirty="0">
                <a:latin typeface="Book Antiqua" panose="02040602050305030304" pitchFamily="18" charset="0"/>
              </a:rPr>
              <a:t>Controlled ablation:</a:t>
            </a:r>
            <a:r>
              <a:rPr lang="en-IN" sz="1600" dirty="0">
                <a:latin typeface="Book Antiqua" panose="02040602050305030304" pitchFamily="18" charset="0"/>
              </a:rPr>
              <a:t> every model also re-run with CAN ID excluded, since ID alone can shortcut DoS.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sz="1600" dirty="0">
                <a:latin typeface="Book Antiqua" panose="02040602050305030304" pitchFamily="18" charset="0"/>
              </a:rPr>
              <a:t>Frame-level granularity:</a:t>
            </a:r>
            <a:r>
              <a:rPr lang="en-IN" sz="1600" dirty="0">
                <a:latin typeface="Book Antiqua" panose="02040602050305030304" pitchFamily="18" charset="0"/>
              </a:rPr>
              <a:t> each frame classified individually, interleaved tampering would otherwise share one label.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sz="1600" dirty="0">
                <a:latin typeface="Book Antiqua" panose="02040602050305030304" pitchFamily="18" charset="0"/>
              </a:rPr>
              <a:t>Result:</a:t>
            </a:r>
            <a:r>
              <a:rPr lang="en-IN" sz="1600" dirty="0">
                <a:latin typeface="Book Antiqua" panose="02040602050305030304" pitchFamily="18" charset="0"/>
              </a:rPr>
              <a:t> the same test split, class weights and evaluation code are shared by every model for a fair comparison.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B61F75-B92B-62C5-1C8C-ACE3B3767A57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9</a:t>
            </a:r>
            <a:endParaRPr lang="en-A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EF73-286F-A9C8-505B-7117C768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BEC7-3090-DC30-3E7B-A1E7FA9AF544}"/>
              </a:ext>
            </a:extLst>
          </p:cNvPr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8. Results: Baseline vs. Proposed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46A2-8158-1E70-9194-F4C5664BE46D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00000"/>
            <a:ext cx="11109960" cy="8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800" dirty="0">
                <a:latin typeface="Book Antiqua" panose="02040602050305030304" pitchFamily="18" charset="0"/>
              </a:rPr>
              <a:t>Macro-F1 on the shared held-out test split, with and without the CAN ID. The four architectures span 0.0031 macro-F1: on this benchmark accuracy no longer separates them, because a lookup table on the CAN ID alone already reaches 98.9% accuracy.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ABA9-91A9-74FE-2D11-037C1AD4790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11</a:t>
            </a:r>
            <a:endParaRPr lang="en-AE" dirty="0"/>
          </a:p>
        </p:txBody>
      </p:sp>
      <p:graphicFrame>
        <p:nvGraphicFramePr>
          <p:cNvPr id="560" name="Closed-set results"/>
          <p:cNvGraphicFramePr>
            <a:graphicFrameLocks noGrp="1"/>
          </p:cNvGraphicFramePr>
          <p:nvPr/>
        </p:nvGraphicFramePr>
        <p:xfrm>
          <a:off x="502920" y="2350000"/>
          <a:ext cx="11109960" cy="2580000"/>
        </p:xfrm>
        <a:graphic>
          <a:graphicData uri="http://schemas.openxmlformats.org/drawingml/2006/table">
            <a:tbl>
              <a:tblPr firstRow="1" bandRow="0"/>
              <a:tblGrid>
                <a:gridCol w="5109960"/>
                <a:gridCol w="3000000"/>
                <a:gridCol w="3000000"/>
              </a:tblGrid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CAN ID included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CAN ID excluded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0.9968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0.9914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BiLSTM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0.9948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0.9895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CNN-BiLSTM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0.9979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0.9914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GRU Digital Twin + CNN-BiLSTM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0.9989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0.9979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TwinShield-Fusion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0.9979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0.9979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40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 err="1">
                <a:solidFill>
                  <a:srgbClr val="1C1C1C"/>
                </a:solidFill>
                <a:latin typeface="Aptos"/>
              </a:rPr>
              <a:t>10. Results: Digital Twin and Residual Evidence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1405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39253"/>
            <a:ext cx="241227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37414B"/>
                </a:solidFill>
                <a:latin typeface="Aptos"/>
              </a:rPr>
              <a:t>Digital Twin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0515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dirty="0">
                <a:latin typeface="Book Antiqua" panose="02040602050305030304" pitchFamily="18" charset="0"/>
              </a:rPr>
              <a:t>MAE 10.52 bytes on the 0–255 scale (0.041 normalised) predicting the next CAN payload, on held-out normal frames. Fitted on normal traffic only, so it never sees an attack pattern.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4901184" cy="2268583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518001"/>
            <a:ext cx="4773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37414B"/>
                </a:solidFill>
                <a:latin typeface="Aptos"/>
              </a:rPr>
              <a:t>Residual separation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926115"/>
            <a:ext cx="4773168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Brake tampering lifts the residual on 18FF00F9 from 2.64 to 25.13 bytes, a factor of 9.5, and every frame is flagged. </a:t>
            </a:r>
            <a:r>
              <a:rPr lang="en-IN" dirty="0">
                <a:latin typeface="Book Antiqua" panose="02040602050305030304" pitchFamily="18" charset="0"/>
              </a:rPr>
              <a:t>Steering tampering lowers it from 6.54 to 3.06, and the gate misses it.</a:t>
            </a:r>
            <a:endParaRPr sz="180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3337560"/>
            <a:ext cx="5160264" cy="2377440"/>
          </a:xfrm>
          <a:prstGeom prst="roundRect">
            <a:avLst/>
          </a:prstGeom>
          <a:solidFill>
            <a:srgbClr val="FCF3E9"/>
          </a:solidFill>
          <a:ln w="12700"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3457154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37414B"/>
                </a:solidFill>
                <a:latin typeface="Aptos"/>
              </a:rPr>
              <a:t>SHAP explainability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919322"/>
            <a:ext cx="4818888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Implemented and producing per-feature attributions for every predicted class.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Identifies which CAN ID and which payload byte contributed most to a detection.</a:t>
            </a:r>
            <a:endParaRPr lang="en-GB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96524-0CD9-4BF1-E4BB-63EE1A22D61B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13</a:t>
            </a:r>
            <a:endParaRPr lang="en-AE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 dirty="0">
                <a:solidFill>
                  <a:srgbClr val="1C1C1C"/>
                </a:solidFill>
                <a:latin typeface="Aptos"/>
              </a:rPr>
              <a:t>12. Challenges and Refinements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59" y="1247938"/>
            <a:ext cx="4543697" cy="535142"/>
          </a:xfrm>
          <a:prstGeom prst="roundRect">
            <a:avLst/>
          </a:prstGeom>
          <a:solidFill>
            <a:srgbClr val="EDF4FC"/>
          </a:solidFill>
          <a:ln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7159" y="1315454"/>
            <a:ext cx="401432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7414B"/>
                </a:solidFill>
                <a:latin typeface="Aptos"/>
              </a:rPr>
              <a:t>Challenge identified</a:t>
            </a:r>
            <a:endParaRPr sz="200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156" y="1969580"/>
            <a:ext cx="544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CAN ID alone reaches near-perfect accuracy on DoS, every DoS frame uses ID 00000000, no normal frame does.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47937"/>
            <a:ext cx="4267200" cy="594079"/>
          </a:xfrm>
          <a:prstGeom prst="roundRect">
            <a:avLst/>
          </a:prstGeom>
          <a:solidFill>
            <a:srgbClr val="FCF3E9"/>
          </a:solidFill>
          <a:ln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580" y="1360340"/>
            <a:ext cx="390013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7414B"/>
                </a:solidFill>
                <a:latin typeface="Aptos"/>
              </a:rPr>
              <a:t>How we addressed it</a:t>
            </a:r>
            <a:endParaRPr sz="200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00" y="2082571"/>
            <a:ext cx="507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Added a CAN-ID-excluded feature variant, so results aren’t inflated by the ID shortcut.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" y="4936886"/>
            <a:ext cx="375034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95391"/>
                </a:solidFill>
                <a:latin typeface="Aptos"/>
              </a:rPr>
              <a:t>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5421542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Accuracy alone is not a meaningful headline metric on this dataset. </a:t>
            </a:r>
            <a:r>
              <a:rPr lang="en-IN" b="1" dirty="0">
                <a:latin typeface="Book Antiqua" panose="02040602050305030304" pitchFamily="18" charset="0"/>
              </a:rPr>
              <a:t>The residual gate earns its keep only on an attack no component was trained on, and it costs 2.26% false alarms against 0.03-0.31% for the baselines.</a:t>
            </a:r>
            <a:endParaRPr lang="en-US" b="1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BCEDA-561C-7C04-043F-1FCC71282F26}"/>
              </a:ext>
            </a:extLst>
          </p:cNvPr>
          <p:cNvSpPr txBox="1"/>
          <p:nvPr/>
        </p:nvSpPr>
        <p:spPr>
          <a:xfrm>
            <a:off x="502920" y="2967335"/>
            <a:ext cx="5440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Normal vs. tampering classes are extremely imbalanced (≈152:1).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5DE83D-AE83-7F4E-3968-FE5CC35D25ED}"/>
              </a:ext>
            </a:extLst>
          </p:cNvPr>
          <p:cNvSpPr txBox="1"/>
          <p:nvPr/>
        </p:nvSpPr>
        <p:spPr>
          <a:xfrm>
            <a:off x="502920" y="3747923"/>
            <a:ext cx="521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CAN traffic is highly repetitive, so a naive split risks train/test leakage.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F2C40-844A-2498-BB02-4F3D77CC15C3}"/>
              </a:ext>
            </a:extLst>
          </p:cNvPr>
          <p:cNvSpPr txBox="1"/>
          <p:nvPr/>
        </p:nvSpPr>
        <p:spPr>
          <a:xfrm>
            <a:off x="6248402" y="2892910"/>
            <a:ext cx="507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Applied class-weighted cross-entropy loss during training.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6DF19F-8E28-9076-2DC4-156857771C6B}"/>
              </a:ext>
            </a:extLst>
          </p:cNvPr>
          <p:cNvSpPr txBox="1"/>
          <p:nvPr/>
        </p:nvSpPr>
        <p:spPr>
          <a:xfrm>
            <a:off x="6248402" y="3714516"/>
            <a:ext cx="5074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Used block-based, stratified train/val/test splits so no frame’s window crosses a split.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A7D054-01E5-4F98-0650-E2E3687EDF64}"/>
              </a:ext>
            </a:extLst>
          </p:cNvPr>
          <p:cNvSpPr/>
          <p:nvPr/>
        </p:nvSpPr>
        <p:spPr>
          <a:xfrm>
            <a:off x="502920" y="4864139"/>
            <a:ext cx="10652760" cy="165005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FE555D-6E92-E53A-B885-A7F2117826C6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15</a:t>
            </a:r>
            <a:endParaRPr lang="en-AE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EF73-286F-A9C8-505B-7117C768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BEC7-3090-DC30-3E7B-A1E7FA9AF544}"/>
              </a:ext>
            </a:extLst>
          </p:cNvPr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13. Conclusion and Contributions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46A2-8158-1E70-9194-F4C5664BE46D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81F349-AB9E-9741-6B11-F88C9539C1FA}"/>
              </a:ext>
            </a:extLst>
          </p:cNvPr>
          <p:cNvSpPr txBox="1"/>
          <p:nvPr/>
        </p:nvSpPr>
        <p:spPr>
          <a:xfrm>
            <a:off x="1175981" y="1690062"/>
            <a:ext cx="9263419" cy="22467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 err="1">
                <a:latin typeface="Book Antiqua" panose="02040602050305030304" pitchFamily="18" charset="0"/>
              </a:rPr>
              <a:t>TwinShield</a:t>
            </a:r>
            <a:r>
              <a:rPr lang="en-IN" sz="2000" dirty="0">
                <a:latin typeface="Book Antiqua" panose="02040602050305030304" pitchFamily="18" charset="0"/>
              </a:rPr>
              <a:t>-Fusion is implemented end to end and evaluated on 143,444 real GEM-CAN </a:t>
            </a:r>
            <a:r>
              <a:rPr lang="en-IN" sz="2000" dirty="0" err="1">
                <a:latin typeface="Book Antiqua" panose="02040602050305030304" pitchFamily="18" charset="0"/>
              </a:rPr>
              <a:t>traffic</a:t>
            </a:r>
            <a:r>
              <a:rPr lang="en-IN" sz="2000" dirty="0">
                <a:latin typeface="Book Antiqua" panose="02040602050305030304" pitchFamily="18" charset="0"/>
              </a:rPr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Closed-set accuracy separates the four architectures by only 0.0031 macro-F1; under a leave-one-attack-out quarantine they separate by 74 percentage points, and the whole of that detection comes from the Digital Twin residual gate, not from the supervised head.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The method has a measured boundary: it detects attacks that put implausible values on the bus and not attacks that put plausible ones, confirmed on a second dataset.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</a:r>
            <a:r>
              <a:rPr lang="en-IN" sz="2000" dirty="0" err="1">
                <a:latin typeface="Book Antiqua" panose="02040602050305030304" pitchFamily="18" charset="0"/>
              </a:rPr>
            </a:r>
            <a:r>
              <a:rPr lang="en-IN" sz="2000" dirty="0">
                <a:latin typeface="Book Antiqua" panose="02040602050305030304" pitchFamily="18" charset="0"/>
              </a:rPr>
              <a:t>Deliverables: the Streamlit demo, the project report and an IEEE Access-format paper. Future work: more vehicles and drive cycles, and a timing or sequence model to cover the attacks the residual cannot see.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ABA9-91A9-74FE-2D11-037C1AD4790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16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4513403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0D406-58F5-593D-4D88-F2F4AB94B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EEAAD5-4698-FE43-C27D-666FCA396DFD}"/>
              </a:ext>
            </a:extLst>
          </p:cNvPr>
          <p:cNvSpPr txBox="1"/>
          <p:nvPr/>
        </p:nvSpPr>
        <p:spPr>
          <a:xfrm>
            <a:off x="708877" y="359227"/>
            <a:ext cx="1110996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dirty="0">
                <a:solidFill>
                  <a:srgbClr val="1C1C1C"/>
                </a:solidFill>
                <a:latin typeface="Book Antiqua" panose="02040602050305030304" pitchFamily="18" charset="0"/>
              </a:rPr>
              <a:t>1. Introduction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635614-F933-CC18-A373-AE1D1900DD3A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2A91C47-B7E2-D37E-26B2-F7025DDC7B4E}"/>
              </a:ext>
            </a:extLst>
          </p:cNvPr>
          <p:cNvSpPr/>
          <p:nvPr/>
        </p:nvSpPr>
        <p:spPr>
          <a:xfrm>
            <a:off x="548639" y="1434343"/>
            <a:ext cx="5166360" cy="619116"/>
          </a:xfrm>
          <a:prstGeom prst="roundRect">
            <a:avLst/>
          </a:prstGeom>
          <a:solidFill>
            <a:srgbClr val="EDF4FC"/>
          </a:solidFill>
          <a:ln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24E2F9-46F7-D14E-3FF0-AB1AB1E783E0}"/>
              </a:ext>
            </a:extLst>
          </p:cNvPr>
          <p:cNvSpPr txBox="1"/>
          <p:nvPr/>
        </p:nvSpPr>
        <p:spPr>
          <a:xfrm>
            <a:off x="708877" y="1479823"/>
            <a:ext cx="4788409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dirty="0">
                <a:solidFill>
                  <a:srgbClr val="37414B"/>
                </a:solidFill>
                <a:latin typeface="Book Antiqua" panose="02040602050305030304" pitchFamily="18" charset="0"/>
              </a:rPr>
              <a:t>What is cyber physical attacks?</a:t>
            </a:r>
            <a:endParaRPr sz="2400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7A84FF-D5E9-09B2-6F6A-638C167DFE8A}"/>
              </a:ext>
            </a:extLst>
          </p:cNvPr>
          <p:cNvSpPr txBox="1"/>
          <p:nvPr/>
        </p:nvSpPr>
        <p:spPr>
          <a:xfrm>
            <a:off x="484414" y="2223352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Attacks that target the digital parts of a physical system.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In EVs, attackers can inject or modify CAN messages.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They can cause unsafe vehicle behaviour and system disruption</a:t>
            </a:r>
            <a:endParaRPr sz="2000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5FC53C7-9513-77DC-9579-668475E57757}"/>
              </a:ext>
            </a:extLst>
          </p:cNvPr>
          <p:cNvSpPr/>
          <p:nvPr/>
        </p:nvSpPr>
        <p:spPr>
          <a:xfrm>
            <a:off x="6309359" y="1434342"/>
            <a:ext cx="5166359" cy="602660"/>
          </a:xfrm>
          <a:prstGeom prst="roundRect">
            <a:avLst/>
          </a:prstGeom>
          <a:solidFill>
            <a:srgbClr val="FCF3E9"/>
          </a:solidFill>
          <a:ln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A4073D-8906-ED13-E66B-5AD9F942B393}"/>
              </a:ext>
            </a:extLst>
          </p:cNvPr>
          <p:cNvSpPr txBox="1"/>
          <p:nvPr/>
        </p:nvSpPr>
        <p:spPr>
          <a:xfrm>
            <a:off x="6534912" y="1479823"/>
            <a:ext cx="4296374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400" dirty="0">
                <a:solidFill>
                  <a:srgbClr val="37414B"/>
                </a:solidFill>
                <a:latin typeface="Book Antiqua" panose="02040602050305030304" pitchFamily="18" charset="0"/>
              </a:rPr>
              <a:t>Why we need to detect them?</a:t>
            </a:r>
            <a:endParaRPr sz="2400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AD38976-3A1E-E580-2730-2E7D677AB468}"/>
              </a:ext>
            </a:extLst>
          </p:cNvPr>
          <p:cNvSpPr txBox="1"/>
          <p:nvPr/>
        </p:nvSpPr>
        <p:spPr>
          <a:xfrm>
            <a:off x="6309359" y="2289416"/>
            <a:ext cx="53035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Book Antiqua" panose="02040602050305030304" pitchFamily="18" charset="0"/>
              </a:rPr>
              <a:t>Protect vehicle safety by detecting malicious messages before they affect vehicle functions and prevent any disruptions.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2A814A-65B6-F844-A010-D3ED77259D97}"/>
              </a:ext>
            </a:extLst>
          </p:cNvPr>
          <p:cNvSpPr txBox="1"/>
          <p:nvPr/>
        </p:nvSpPr>
        <p:spPr>
          <a:xfrm>
            <a:off x="609600" y="4443323"/>
            <a:ext cx="523602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dirty="0" err="1">
                <a:solidFill>
                  <a:srgbClr val="C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TwinShield</a:t>
            </a:r>
            <a:r>
              <a:rPr lang="en-US" sz="2400" b="1" dirty="0">
                <a:solidFill>
                  <a:srgbClr val="C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Book Antiqua" panose="02040602050305030304" pitchFamily="18" charset="0"/>
                <a:ea typeface="Book Antiqua" pitchFamily="34" charset="-122"/>
                <a:cs typeface="Book Antiqua" pitchFamily="34" charset="-120"/>
              </a:rPr>
              <a:t> </a:t>
            </a:r>
            <a:r>
              <a:rPr lang="en-IN" sz="2000" dirty="0">
                <a:latin typeface="Book Antiqua" panose="02040602050305030304" pitchFamily="18" charset="0"/>
              </a:rPr>
              <a:t>A Digital Twin learns normal EV CAN behaviour, finds unusual changes, combines them, and uses AI to detect and explain attacks.</a:t>
            </a:r>
            <a:endParaRPr lang="en-AE" sz="2000" dirty="0">
              <a:latin typeface="Book Antiqua" panose="0204060205030503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78D3C7-DBFA-A066-1765-63C527492EDF}"/>
              </a:ext>
            </a:extLst>
          </p:cNvPr>
          <p:cNvSpPr/>
          <p:nvPr/>
        </p:nvSpPr>
        <p:spPr>
          <a:xfrm>
            <a:off x="6221188" y="3780033"/>
            <a:ext cx="5664927" cy="2650018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F95DB4-00B7-B964-634D-574991A5FB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28" t="13175" r="3969" b="18812"/>
          <a:stretch>
            <a:fillRect/>
          </a:stretch>
        </p:blipFill>
        <p:spPr>
          <a:xfrm>
            <a:off x="6467314" y="3841399"/>
            <a:ext cx="5172674" cy="25272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43A373F-56E4-AB54-7F91-9C796A05C3DE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2</a:t>
            </a:r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801162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 dirty="0">
                <a:solidFill>
                  <a:srgbClr val="1C1C1C"/>
                </a:solidFill>
                <a:latin typeface="Aptos"/>
              </a:rPr>
              <a:t>2. 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33172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481328"/>
            <a:ext cx="222199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417320"/>
            <a:ext cx="365760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481328"/>
            <a:ext cx="35478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What was 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21424" y="1417320"/>
            <a:ext cx="489204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76288" y="1481328"/>
            <a:ext cx="47823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Relevance / 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10512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810512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21424" y="1810512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883664"/>
            <a:ext cx="221284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140" b="1" dirty="0">
                <a:solidFill>
                  <a:srgbClr val="37414B"/>
                </a:solidFill>
                <a:latin typeface="Aptos"/>
              </a:rPr>
              <a:t>1. </a:t>
            </a:r>
            <a:r>
              <a:rPr lang="en-IN" sz="1200" dirty="0"/>
              <a:t>Jeong et al. (2024), IEEE Transactions on Vehicular Technology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5808" y="1883664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an explainable CAN intrusion detection system using meaningful CAN signals instead of only raw bits.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85432" y="1883664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Provides explainability, but does not use a Digital Twin to learn expected behaviour.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688336"/>
            <a:ext cx="233172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71800" y="2688336"/>
            <a:ext cx="365760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21424" y="2688336"/>
            <a:ext cx="489204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761488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2. Ding et al. (2024), Information Sciences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35808" y="2761488"/>
            <a:ext cx="35204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</a:t>
            </a:r>
            <a:r>
              <a:rPr lang="en-IN" sz="1200" dirty="0" err="1"/>
              <a:t>DeepSecDrive</a:t>
            </a:r>
            <a:r>
              <a:rPr lang="en-IN" sz="1200" dirty="0"/>
              <a:t> using deep learning to detect attacks in in-vehicle networks.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85432" y="2761488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Supports real-time and explainable detection, but does not use behavioural residuals.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3566160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71800" y="3566160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21424" y="3566160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39312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3. Le et al. (2024), Knowledge-Based Systems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35808" y="3639312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Used a Transformer and Autoencoder to detect multiple types of CAN attacks from packet and sequence information.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85432" y="3639312"/>
            <a:ext cx="473659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Strong sequence learning, but does not use a Digital Twin.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443983"/>
            <a:ext cx="233172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71800" y="4443983"/>
            <a:ext cx="365760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21424" y="4443983"/>
            <a:ext cx="489204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517136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4. Kang et al. (2024), Vehicular Communications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35808" y="4517136"/>
            <a:ext cx="35204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</a:t>
            </a:r>
            <a:r>
              <a:rPr lang="en-IN" sz="1200" dirty="0" err="1"/>
              <a:t>CANival</a:t>
            </a:r>
            <a:r>
              <a:rPr lang="en-IN" sz="1200" dirty="0"/>
              <a:t> by combining CAN timing and signal information for attack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85432" y="4517136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Uses multiple types of CAN information, but does not use Digital Twin based residual fusion.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5321807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71800" y="5321807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21424" y="5321807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394959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5. Khan et al. (2024), Computers and Security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35808" y="5394959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</a:t>
            </a:r>
            <a:r>
              <a:rPr lang="en-IN" sz="1200" dirty="0" err="1"/>
              <a:t>DivaCAN</a:t>
            </a:r>
            <a:r>
              <a:rPr lang="en-IN" sz="1200" dirty="0"/>
              <a:t> using multiple machine learning models combined as an ensemble for CAN attack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85432" y="5394959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Improves detection performance, but does not model expected vehicle behaviour.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5BE7A3A-6AFE-6425-2131-D6E3D35776D3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3</a:t>
            </a:r>
            <a:endParaRPr lang="en-AE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 dirty="0">
                <a:solidFill>
                  <a:srgbClr val="1C1C1C"/>
                </a:solidFill>
                <a:latin typeface="Aptos"/>
              </a:rPr>
              <a:t>2. Literature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417320"/>
            <a:ext cx="233172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57784" y="1481328"/>
            <a:ext cx="2221991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Paper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971800" y="1417320"/>
            <a:ext cx="365760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026664" y="1481328"/>
            <a:ext cx="354787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What was done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12280" y="1417320"/>
            <a:ext cx="4892040" cy="329184"/>
          </a:xfrm>
          <a:prstGeom prst="rect">
            <a:avLst/>
          </a:prstGeom>
          <a:solidFill>
            <a:srgbClr val="42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67144" y="1481328"/>
            <a:ext cx="478231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20" b="1">
                <a:solidFill>
                  <a:srgbClr val="FFFFFF"/>
                </a:solidFill>
                <a:latin typeface="Aptos"/>
              </a:rPr>
              <a:t>Relevance / limitation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1810512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971800" y="1810512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2280" y="1810512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6928" y="1883664"/>
            <a:ext cx="221284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6. Bari et al. (2023), Sensors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035808" y="1883664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Compared Support Vector Machine, Decision Tree and K Nearest </a:t>
            </a:r>
            <a:r>
              <a:rPr lang="en-IN" sz="1200" dirty="0" err="1"/>
              <a:t>Neighbor</a:t>
            </a:r>
            <a:r>
              <a:rPr lang="en-IN" sz="1200" dirty="0"/>
              <a:t> models using real vehicle CAN datasets.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76288" y="1883664"/>
            <a:ext cx="473659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Uses traditional machine learning and has limited </a:t>
            </a:r>
            <a:r>
              <a:rPr lang="en-IN" sz="1200" dirty="0" err="1"/>
              <a:t>behavioral</a:t>
            </a:r>
            <a:r>
              <a:rPr lang="en-IN" sz="1200" dirty="0"/>
              <a:t> </a:t>
            </a:r>
            <a:r>
              <a:rPr lang="en-IN" sz="1200" dirty="0" err="1"/>
              <a:t>modeling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02920" y="2688336"/>
            <a:ext cx="233172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971800" y="2688336"/>
            <a:ext cx="365760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12280" y="2688336"/>
            <a:ext cx="489204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6928" y="2761488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7. Rai et al. (2025), Scientific Reports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35808" y="2761488"/>
            <a:ext cx="35204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Compared LSTM, GRU, </a:t>
            </a:r>
            <a:r>
              <a:rPr lang="en-IN" sz="1200" dirty="0" err="1"/>
              <a:t>BiLSTM</a:t>
            </a:r>
            <a:r>
              <a:rPr lang="en-IN" sz="1200" dirty="0"/>
              <a:t> and other deep learning models for CAN attack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76288" y="2761488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Shows strong deep learning performance, but does not use Digital Twin based residual information.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02920" y="3566160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2971800" y="3566160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12280" y="3566160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66928" y="3639312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8. Xu et al. (2025), </a:t>
            </a:r>
            <a:r>
              <a:rPr lang="en-IN" sz="1200" dirty="0" err="1"/>
              <a:t>PeerJ</a:t>
            </a:r>
            <a:r>
              <a:rPr lang="en-IN" sz="1200" dirty="0"/>
              <a:t> Computer Science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035808" y="3639312"/>
            <a:ext cx="35204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BEPCD using feature engineering and ensemble learning for CAN intrusion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3639312"/>
            <a:ext cx="473659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Handles multiple attacks, but does not use adaptive residual fusion.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02920" y="4443983"/>
            <a:ext cx="233172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971800" y="4443983"/>
            <a:ext cx="365760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12280" y="4443983"/>
            <a:ext cx="4892040" cy="877824"/>
          </a:xfrm>
          <a:prstGeom prst="rect">
            <a:avLst/>
          </a:prstGeom>
          <a:solidFill>
            <a:srgbClr val="F5F5F5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66928" y="4517136"/>
            <a:ext cx="2212848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9. Wang et al. (2026), IEEE Transactions on Vehicular Technology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035808" y="4517136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Used data augmentation with Generative Adversarial Networks and prediction models using CNN and LSTM for CAN attack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4517136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Improves attack detection and handles limited attack data, but does not use Digital Twin residual fusion.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02920" y="5321807"/>
            <a:ext cx="233172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71800" y="5321807"/>
            <a:ext cx="365760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812280" y="5321807"/>
            <a:ext cx="4892040" cy="877824"/>
          </a:xfrm>
          <a:prstGeom prst="rect">
            <a:avLst/>
          </a:prstGeom>
          <a:solidFill>
            <a:srgbClr val="FFFFFF"/>
          </a:solidFill>
          <a:ln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66928" y="5394959"/>
            <a:ext cx="2212848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10. Xu et al. (2026), Internet of Things</a:t>
            </a:r>
            <a:endParaRPr sz="114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035808" y="5394959"/>
            <a:ext cx="35204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Developed a lightweight Mamba based model for long term CAN traffic patterns and fast attack detection.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876288" y="5394959"/>
            <a:ext cx="473659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1200" dirty="0"/>
              <a:t>Very strong performance and low latency, but does not use Digital Twin based </a:t>
            </a:r>
            <a:r>
              <a:rPr lang="en-IN" sz="1200" dirty="0" err="1"/>
              <a:t>behavioral</a:t>
            </a:r>
            <a:r>
              <a:rPr lang="en-IN" sz="1200" dirty="0"/>
              <a:t> residuals.</a:t>
            </a:r>
            <a:endParaRPr sz="1140" b="0" dirty="0">
              <a:solidFill>
                <a:srgbClr val="1C1C1C"/>
              </a:solidFill>
              <a:latin typeface="Apto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38A6BE-3F70-48D0-D352-B728899CE410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4</a:t>
            </a:r>
            <a:endParaRPr lang="en-AE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50" b="1" dirty="0">
                <a:solidFill>
                  <a:srgbClr val="1C1C1C"/>
                </a:solidFill>
                <a:latin typeface="Aptos"/>
              </a:rPr>
              <a:t>2. Literature Review and Research Gap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59" y="1247938"/>
            <a:ext cx="4543697" cy="535142"/>
          </a:xfrm>
          <a:prstGeom prst="roundRect">
            <a:avLst/>
          </a:prstGeom>
          <a:solidFill>
            <a:srgbClr val="EDF4FC"/>
          </a:solidFill>
          <a:ln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7159" y="1315454"/>
            <a:ext cx="4014327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7414B"/>
                </a:solidFill>
                <a:latin typeface="Aptos"/>
              </a:rPr>
              <a:t>What is already established</a:t>
            </a:r>
            <a:r>
              <a:rPr lang="en-IN" sz="2000" b="1" dirty="0">
                <a:solidFill>
                  <a:srgbClr val="37414B"/>
                </a:solidFill>
                <a:latin typeface="Aptos"/>
              </a:rPr>
              <a:t>?</a:t>
            </a:r>
            <a:endParaRPr sz="200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53156" y="1969580"/>
            <a:ext cx="54406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Deep learning models such as CNN, LSTM, </a:t>
            </a:r>
            <a:r>
              <a:rPr lang="en-IN" dirty="0" err="1">
                <a:latin typeface="Book Antiqua" panose="02040602050305030304" pitchFamily="18" charset="0"/>
              </a:rPr>
              <a:t>BiLSTM</a:t>
            </a:r>
            <a:r>
              <a:rPr lang="en-IN" dirty="0">
                <a:latin typeface="Book Antiqua" panose="02040602050305030304" pitchFamily="18" charset="0"/>
              </a:rPr>
              <a:t> and Transformer are widely used for CAN attack detection.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247937"/>
            <a:ext cx="4267200" cy="594079"/>
          </a:xfrm>
          <a:prstGeom prst="roundRect">
            <a:avLst/>
          </a:prstGeom>
          <a:solidFill>
            <a:srgbClr val="FCF3E9"/>
          </a:solidFill>
          <a:ln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04580" y="1360340"/>
            <a:ext cx="3900134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37414B"/>
                </a:solidFill>
                <a:latin typeface="Aptos"/>
              </a:rPr>
              <a:t>What is not directly covered</a:t>
            </a:r>
            <a:r>
              <a:rPr lang="en-IN" sz="2000" b="1" dirty="0">
                <a:solidFill>
                  <a:srgbClr val="37414B"/>
                </a:solidFill>
                <a:latin typeface="Aptos"/>
              </a:rPr>
              <a:t>?</a:t>
            </a:r>
            <a:endParaRPr sz="2000" b="1" dirty="0">
              <a:solidFill>
                <a:srgbClr val="37414B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86500" y="2082571"/>
            <a:ext cx="507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Learning normal CAN behaviour using a Digital Twin for EV intrusion detection.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" y="4936886"/>
            <a:ext cx="375034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695391"/>
                </a:solidFill>
                <a:latin typeface="Aptos"/>
              </a:rPr>
              <a:t>Research gap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" y="5421542"/>
            <a:ext cx="10789920" cy="923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Existing EV CAN intrusion detection methods mainly focus on identifying known attack patterns. </a:t>
            </a:r>
            <a:r>
              <a:rPr lang="en-IN" b="1" dirty="0">
                <a:latin typeface="Book Antiqua" panose="02040602050305030304" pitchFamily="18" charset="0"/>
              </a:rPr>
              <a:t>Digital Twin based behaviour deviations and adaptive multi-CAN residual fusion remain underexplored.</a:t>
            </a:r>
            <a:endParaRPr lang="en-US" b="1" dirty="0">
              <a:solidFill>
                <a:srgbClr val="37414B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4BCEDA-561C-7C04-043F-1FCC71282F26}"/>
              </a:ext>
            </a:extLst>
          </p:cNvPr>
          <p:cNvSpPr txBox="1"/>
          <p:nvPr/>
        </p:nvSpPr>
        <p:spPr>
          <a:xfrm>
            <a:off x="502920" y="2967335"/>
            <a:ext cx="54406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Detection of attacks such as DoS, spoofing, replay and data tampering is well studied.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5DE83D-AE83-7F4E-3968-FE5CC35D25ED}"/>
              </a:ext>
            </a:extLst>
          </p:cNvPr>
          <p:cNvSpPr txBox="1"/>
          <p:nvPr/>
        </p:nvSpPr>
        <p:spPr>
          <a:xfrm>
            <a:off x="502920" y="3747923"/>
            <a:ext cx="5212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Book Antiqua" panose="02040602050305030304" pitchFamily="18" charset="0"/>
              </a:rPr>
              <a:t>SHAP and attention mechanisms are established methods for explainability and feature importance.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7F2C40-844A-2498-BB02-4F3D77CC15C3}"/>
              </a:ext>
            </a:extLst>
          </p:cNvPr>
          <p:cNvSpPr txBox="1"/>
          <p:nvPr/>
        </p:nvSpPr>
        <p:spPr>
          <a:xfrm>
            <a:off x="6248402" y="2892910"/>
            <a:ext cx="5074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Adaptive fusion of behaviour deviations from multiple CAN or ECU streams.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6DF19F-8E28-9076-2DC4-156857771C6B}"/>
              </a:ext>
            </a:extLst>
          </p:cNvPr>
          <p:cNvSpPr txBox="1"/>
          <p:nvPr/>
        </p:nvSpPr>
        <p:spPr>
          <a:xfrm>
            <a:off x="6248402" y="3714516"/>
            <a:ext cx="5074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Book Antiqua" panose="02040602050305030304" pitchFamily="18" charset="0"/>
              </a:rPr>
              <a:t>A unified framework combining Digital Twin, residual fusion, CNN-</a:t>
            </a:r>
            <a:r>
              <a:rPr lang="en-IN" dirty="0" err="1">
                <a:latin typeface="Book Antiqua" panose="02040602050305030304" pitchFamily="18" charset="0"/>
              </a:rPr>
              <a:t>BiLSTM</a:t>
            </a:r>
            <a:r>
              <a:rPr lang="en-IN" dirty="0">
                <a:latin typeface="Book Antiqua" panose="02040602050305030304" pitchFamily="18" charset="0"/>
              </a:rPr>
              <a:t>, and SHAP for explainable EV CAN security.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CA7D054-01E5-4F98-0650-E2E3687EDF64}"/>
              </a:ext>
            </a:extLst>
          </p:cNvPr>
          <p:cNvSpPr/>
          <p:nvPr/>
        </p:nvSpPr>
        <p:spPr>
          <a:xfrm>
            <a:off x="502920" y="4864139"/>
            <a:ext cx="10652760" cy="1650050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FE555D-6E92-E53A-B885-A7F2117826C6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5</a:t>
            </a:r>
            <a:endParaRPr lang="en-AE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96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 err="1">
                <a:solidFill>
                  <a:srgbClr val="1C1C1C"/>
                </a:solidFill>
                <a:latin typeface="Aptos"/>
              </a:rPr>
              <a:t>3. Objective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51405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39253"/>
            <a:ext cx="2412274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dirty="0">
                <a:solidFill>
                  <a:srgbClr val="37414B"/>
                </a:solidFill>
                <a:latin typeface="Aptos"/>
              </a:rPr>
              <a:t>Research 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10515600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sz="2400" dirty="0">
                <a:latin typeface="Book Antiqua" panose="02040602050305030304" pitchFamily="18" charset="0"/>
              </a:rPr>
              <a:t>Develop an explainable EV CAN intrusion detection system using Digital Twin based behaviour deviations and adaptive multi-CAN residual fusion.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337560"/>
            <a:ext cx="4901184" cy="2268583"/>
          </a:xfrm>
          <a:prstGeom prst="roundRect">
            <a:avLst/>
          </a:prstGeom>
          <a:solidFill>
            <a:srgbClr val="EDF4FC"/>
          </a:solidFill>
          <a:ln w="12700">
            <a:solidFill>
              <a:srgbClr val="4269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256" y="3518001"/>
            <a:ext cx="47731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37414B"/>
                </a:solidFill>
                <a:latin typeface="Aptos"/>
              </a:rPr>
              <a:t>Core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3926115"/>
            <a:ext cx="4773168" cy="120032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CAN Traffic → Digital Twin → Residual Generation → Adaptive Multi-CAN Fusion → CNN-</a:t>
            </a:r>
            <a:r>
              <a:rPr lang="en-IN" dirty="0" err="1">
                <a:latin typeface="Book Antiqua" panose="02040602050305030304" pitchFamily="18" charset="0"/>
              </a:rPr>
              <a:t>BiLSTM</a:t>
            </a:r>
            <a:r>
              <a:rPr lang="en-IN" dirty="0">
                <a:latin typeface="Book Antiqua" panose="02040602050305030304" pitchFamily="18" charset="0"/>
              </a:rPr>
              <a:t> → Attack Detection + SHAP</a:t>
            </a:r>
            <a:endParaRPr sz="1800" b="0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26480" y="3337560"/>
            <a:ext cx="5160264" cy="2377440"/>
          </a:xfrm>
          <a:prstGeom prst="roundRect">
            <a:avLst/>
          </a:prstGeom>
          <a:solidFill>
            <a:srgbClr val="FCF3E9"/>
          </a:solidFill>
          <a:ln w="12700">
            <a:solidFill>
              <a:srgbClr val="BE7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3457154"/>
            <a:ext cx="481888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dirty="0">
                <a:solidFill>
                  <a:srgbClr val="37414B"/>
                </a:solidFill>
                <a:latin typeface="Aptos"/>
              </a:rPr>
              <a:t>Experiment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919322"/>
            <a:ext cx="4818888" cy="14773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IN" dirty="0">
                <a:latin typeface="Book Antiqua" panose="02040602050305030304" pitchFamily="18" charset="0"/>
              </a:rPr>
              <a:t>3 Baselines + 2 Proposed Variants → Compare performance using the same test data.</a:t>
            </a:r>
            <a:br>
              <a:rPr lang="en-IN" dirty="0">
                <a:latin typeface="Book Antiqua" panose="02040602050305030304" pitchFamily="18" charset="0"/>
              </a:rPr>
            </a:br>
            <a:r>
              <a:rPr lang="en-IN" dirty="0">
                <a:latin typeface="Book Antiqua" panose="02040602050305030304" pitchFamily="18" charset="0"/>
              </a:rPr>
              <a:t>Evaluate the contribution of Digital Twin, residuals, and adaptive fusion.</a:t>
            </a:r>
            <a:endParaRPr lang="en-GB" dirty="0">
              <a:solidFill>
                <a:srgbClr val="1C1C1C"/>
              </a:solidFill>
              <a:latin typeface="Book Antiqua" panose="0204060205030503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96524-0CD9-4BF1-E4BB-63EE1A22D61B}"/>
              </a:ext>
            </a:extLst>
          </p:cNvPr>
          <p:cNvSpPr txBox="1"/>
          <p:nvPr/>
        </p:nvSpPr>
        <p:spPr>
          <a:xfrm>
            <a:off x="11713779" y="6480786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6</a:t>
            </a:r>
            <a:endParaRPr lang="en-AE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4. Proposed Methodology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5788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4098A2-60E9-6B66-B483-E3975BD36F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927"/>
          <a:stretch>
            <a:fillRect/>
          </a:stretch>
        </p:blipFill>
        <p:spPr>
          <a:xfrm>
            <a:off x="604875" y="1274803"/>
            <a:ext cx="11149519" cy="53271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569DAD-3DE9-1F46-4DA4-45B2A48C499C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7</a:t>
            </a:r>
            <a:endParaRPr lang="en-AE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87782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25364A"/>
                </a:solidFill>
              </a:rP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15637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[1]</a:t>
            </a:r>
            <a:r>
              <a:rPr lang="en-IN" sz="1320" dirty="0"/>
              <a:t> Jeong, S., Lee, S., Lee, H., &amp; Kim, H. K. (2024). </a:t>
            </a:r>
            <a:r>
              <a:rPr lang="en-IN" sz="1320" i="1" dirty="0"/>
              <a:t>X-CANIDS: Signal-Aware Explainable Intrusion Detection System for Controller Area Network-Based In-Vehicle Network.</a:t>
            </a:r>
            <a:r>
              <a:rPr lang="en-IN" sz="1320" dirty="0"/>
              <a:t> </a:t>
            </a:r>
            <a:r>
              <a:rPr lang="en-IN" sz="1320" b="1" dirty="0"/>
              <a:t>IEEE Transactions on Vehicular Technology, 73(3), 3230–3246.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502920" y="2323229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[3]</a:t>
            </a:r>
            <a:r>
              <a:rPr lang="en-IN" sz="1320" dirty="0"/>
              <a:t> Le, T. D., Truong, H. B. H., Pham, V. P., &amp; Kim, D. (2024). </a:t>
            </a:r>
            <a:r>
              <a:rPr lang="en-IN" sz="1320" i="1" dirty="0"/>
              <a:t>Multi-classification in-vehicle intrusion detection system using packet- and sequence-level characteristics from time-embedded transformer with autoencoder.</a:t>
            </a:r>
            <a:r>
              <a:rPr lang="en-IN" sz="1320" dirty="0"/>
              <a:t> </a:t>
            </a:r>
            <a:r>
              <a:rPr lang="en-IN" sz="1320" b="1" dirty="0"/>
              <a:t>Knowledge-Based Systems, 299, 112091.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3630820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[5]</a:t>
            </a:r>
            <a:r>
              <a:rPr lang="en-IN" sz="1320" dirty="0"/>
              <a:t> Bari, B. S., </a:t>
            </a:r>
            <a:r>
              <a:rPr lang="en-IN" sz="1320" dirty="0" err="1"/>
              <a:t>Yelamarthi</a:t>
            </a:r>
            <a:r>
              <a:rPr lang="en-IN" sz="1320" dirty="0"/>
              <a:t>, K., &amp; Ghafoor, S. (2023). </a:t>
            </a:r>
            <a:r>
              <a:rPr lang="en-IN" sz="1320" i="1" dirty="0"/>
              <a:t>Intrusion Detection in Vehicle Controller Area Network (CAN) Bus Using Machine Learning: A Comparative Performance Study.</a:t>
            </a:r>
            <a:r>
              <a:rPr lang="en-IN" sz="1320" dirty="0"/>
              <a:t> </a:t>
            </a:r>
            <a:r>
              <a:rPr lang="en-IN" sz="1320" b="1" dirty="0"/>
              <a:t>Sensors, 23(7), 3610.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4938412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[7]</a:t>
            </a:r>
            <a:r>
              <a:rPr lang="en-IN" sz="1320" dirty="0"/>
              <a:t> Xu, B., Cao, F., Li, X., Tian, S., Deng, W., &amp; Yue, S. (2025). </a:t>
            </a:r>
            <a:r>
              <a:rPr lang="en-IN" sz="1320" i="1" dirty="0"/>
              <a:t>BEPCD: An ensemble learning-based intrusion detection framework for in-vehicle CAN bus.</a:t>
            </a:r>
            <a:r>
              <a:rPr lang="en-IN" sz="1320" dirty="0"/>
              <a:t> </a:t>
            </a:r>
            <a:r>
              <a:rPr lang="en-IN" sz="1320" b="1" dirty="0" err="1"/>
              <a:t>PeerJ</a:t>
            </a:r>
            <a:r>
              <a:rPr lang="en-IN" sz="1320" b="1" dirty="0"/>
              <a:t> Computer Science, 11, e3108.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6126480" y="1015637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[2]</a:t>
            </a:r>
            <a:r>
              <a:rPr lang="en-IN" sz="1320" dirty="0"/>
              <a:t> Ding, W., </a:t>
            </a:r>
            <a:r>
              <a:rPr lang="en-IN" sz="1320" dirty="0" err="1"/>
              <a:t>Alrashdi</a:t>
            </a:r>
            <a:r>
              <a:rPr lang="en-IN" sz="1320" dirty="0"/>
              <a:t>, I., Hawash, H., &amp; Abdel-Basset, M. (2024). </a:t>
            </a:r>
            <a:r>
              <a:rPr lang="en-IN" sz="1320" i="1" dirty="0" err="1"/>
              <a:t>DeepSecDrive</a:t>
            </a:r>
            <a:r>
              <a:rPr lang="en-IN" sz="1320" i="1" dirty="0"/>
              <a:t>: An explainable deep learning framework for real-time detection of cyberattack in in-vehicle networks.</a:t>
            </a:r>
            <a:r>
              <a:rPr lang="en-IN" sz="1320" dirty="0"/>
              <a:t> </a:t>
            </a:r>
            <a:r>
              <a:rPr lang="en-IN" sz="1320" b="1" dirty="0"/>
              <a:t>Information Sciences, 658, 120057.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26480" y="2323229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[4]</a:t>
            </a:r>
            <a:r>
              <a:rPr lang="en-IN" sz="1320" dirty="0"/>
              <a:t> Kang, H., Vo, T., Kim, H. K., &amp; Hong, J. B. (2024). </a:t>
            </a:r>
            <a:r>
              <a:rPr lang="en-IN" sz="1320" i="1" dirty="0" err="1"/>
              <a:t>CANival</a:t>
            </a:r>
            <a:r>
              <a:rPr lang="en-IN" sz="1320" i="1" dirty="0"/>
              <a:t>: A multimodal approach to intrusion detection on the vehicle CAN bus.</a:t>
            </a:r>
            <a:r>
              <a:rPr lang="en-IN" sz="1320" dirty="0"/>
              <a:t> </a:t>
            </a:r>
            <a:r>
              <a:rPr lang="en-IN" sz="1320" b="1" dirty="0"/>
              <a:t>Vehicular Communications, 50, 100845.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6126480" y="3630820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[6]</a:t>
            </a:r>
            <a:r>
              <a:rPr lang="en-IN" sz="1320" dirty="0"/>
              <a:t> Rai, R., Grover, J., Sharma, P., &amp; Pareek, A. (2025). </a:t>
            </a:r>
            <a:r>
              <a:rPr lang="en-IN" sz="1320" i="1" dirty="0"/>
              <a:t>Securing the CAN bus using deep learning for intrusion detection in vehicles.</a:t>
            </a:r>
            <a:r>
              <a:rPr lang="en-IN" sz="1320" dirty="0"/>
              <a:t> </a:t>
            </a:r>
            <a:r>
              <a:rPr lang="en-IN" sz="1320" b="1" dirty="0"/>
              <a:t>Scientific Reports, 15, 13820.</a:t>
            </a: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6126480" y="4938412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[8]</a:t>
            </a:r>
            <a:r>
              <a:rPr lang="en-IN" sz="1320" dirty="0"/>
              <a:t> Wang, X., Zhao, J., Liu, P., Yao, N., &amp; Xu, Z. (2026). </a:t>
            </a:r>
            <a:r>
              <a:rPr lang="en-IN" sz="1320" i="1" dirty="0"/>
              <a:t>CAN Bus Intrusion Detection Based on Deep Learning With Data Augmentation for Connected Autonomous Vehicles.</a:t>
            </a:r>
            <a:r>
              <a:rPr lang="en-IN" sz="1320" dirty="0"/>
              <a:t> </a:t>
            </a:r>
            <a:r>
              <a:rPr lang="en-IN" sz="1320" b="1" dirty="0"/>
              <a:t>IEEE Transactions on Vehicular Technology, 75(2), 2253–2266.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52075F-B690-4EBB-23D0-8DBD51F019D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18</a:t>
            </a:r>
            <a:endParaRPr lang="en-AE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01168"/>
            <a:ext cx="187782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900" b="1" dirty="0">
                <a:solidFill>
                  <a:srgbClr val="25364A"/>
                </a:solidFill>
              </a:rPr>
              <a:t>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07363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[9]</a:t>
            </a:r>
            <a:r>
              <a:rPr lang="en-IN" sz="1320" dirty="0"/>
              <a:t> Xu, B., Li, Q., Cao, F., &amp; Gao, Y. (2026). </a:t>
            </a:r>
            <a:r>
              <a:rPr lang="en-IN" sz="1320" i="1" dirty="0"/>
              <a:t>A Mamba-based lightweight and dynamically adaptive intrusion detection framework for in-vehicle CAN bus.</a:t>
            </a:r>
            <a:r>
              <a:rPr lang="en-IN" sz="1320" dirty="0"/>
              <a:t> </a:t>
            </a:r>
            <a:r>
              <a:rPr lang="en-IN" sz="1320" b="1" dirty="0"/>
              <a:t>Internet of Things, 37, 101918.</a:t>
            </a: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48402" y="1007363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[10]</a:t>
            </a:r>
            <a:r>
              <a:rPr lang="en-IN" sz="1320" dirty="0"/>
              <a:t> Devika, S., Narang, P., &amp; Alladi, T. (2026). </a:t>
            </a:r>
            <a:r>
              <a:rPr lang="en-IN" sz="1320" i="1" dirty="0" err="1"/>
              <a:t>FedLiTeCAN</a:t>
            </a:r>
            <a:r>
              <a:rPr lang="en-IN" sz="1320" i="1" dirty="0"/>
              <a:t>: A federated lightweight transformer for fast and robust CAN bus intrusion detection.</a:t>
            </a:r>
            <a:r>
              <a:rPr lang="en-IN" sz="1320" dirty="0"/>
              <a:t> </a:t>
            </a:r>
            <a:r>
              <a:rPr lang="en-IN" sz="1320" b="1" dirty="0"/>
              <a:t>Ad Hoc Networks, 190, 104279.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502920" y="2320179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[11]</a:t>
            </a:r>
            <a:r>
              <a:rPr lang="en-IN" sz="1320" dirty="0"/>
              <a:t> </a:t>
            </a:r>
            <a:r>
              <a:rPr lang="en-IN" sz="1320" dirty="0" err="1"/>
              <a:t>Tavasoli</a:t>
            </a:r>
            <a:r>
              <a:rPr lang="en-IN" sz="1320" dirty="0"/>
              <a:t>, M., </a:t>
            </a:r>
            <a:r>
              <a:rPr lang="en-IN" sz="1320" dirty="0" err="1"/>
              <a:t>Sarrafzadeh</a:t>
            </a:r>
            <a:r>
              <a:rPr lang="en-IN" sz="1320" dirty="0"/>
              <a:t>, A., </a:t>
            </a:r>
            <a:r>
              <a:rPr lang="en-IN" sz="1320" dirty="0" err="1"/>
              <a:t>Karimoddini</a:t>
            </a:r>
            <a:r>
              <a:rPr lang="en-IN" sz="1320" dirty="0"/>
              <a:t>, A., et al. (2026). </a:t>
            </a:r>
            <a:r>
              <a:rPr lang="en-IN" sz="1320" i="1" dirty="0"/>
              <a:t>GEM-CAN: A real-world dataset of CAN-bus attack scenarios on an autonomous vehicle for intrusion-detection research.</a:t>
            </a:r>
            <a:r>
              <a:rPr lang="en-IN" sz="1320" dirty="0"/>
              <a:t> </a:t>
            </a:r>
            <a:r>
              <a:rPr lang="en-IN" sz="1320" b="1" dirty="0"/>
              <a:t>Data in Brief, 66, 112805.</a:t>
            </a:r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6248402" y="2323007"/>
            <a:ext cx="5440680" cy="1106424"/>
          </a:xfrm>
          <a:prstGeom prst="roundRect">
            <a:avLst/>
          </a:prstGeom>
          <a:solidFill>
            <a:srgbClr val="F8FAFC"/>
          </a:solidFill>
          <a:ln>
            <a:solidFill>
              <a:srgbClr val="CDD3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tlCol="0" anchor="ctr"/>
          <a:lstStyle/>
          <a:p>
            <a:pPr algn="ctr">
              <a:lnSpc>
                <a:spcPct val="100000"/>
              </a:lnSpc>
              <a:defRPr sz="1320">
                <a:solidFill>
                  <a:srgbClr val="25364A"/>
                </a:solidFill>
              </a:defRPr>
            </a:pPr>
            <a:r>
              <a:rPr lang="en-IN" sz="1320" b="1" dirty="0"/>
              <a:t>[12]</a:t>
            </a:r>
            <a:r>
              <a:rPr lang="en-IN" sz="1320" dirty="0"/>
              <a:t> Upstream Security. (2022). </a:t>
            </a:r>
            <a:r>
              <a:rPr lang="en-IN" sz="1320" i="1" dirty="0"/>
              <a:t>2022 Global Automotive Cybersecurity Report.</a:t>
            </a:r>
            <a:r>
              <a:rPr lang="en-IN" sz="1320" dirty="0"/>
              <a:t> The report </a:t>
            </a:r>
            <a:r>
              <a:rPr lang="en-IN" sz="1320" dirty="0" err="1"/>
              <a:t>analyzed</a:t>
            </a:r>
            <a:r>
              <a:rPr lang="en-IN" sz="1320" dirty="0"/>
              <a:t> </a:t>
            </a:r>
            <a:r>
              <a:rPr lang="en-IN" sz="1320" b="1" dirty="0"/>
              <a:t>900+ automotive cybersecurity incidents</a:t>
            </a:r>
            <a:r>
              <a:rPr lang="en-IN" sz="1320" dirty="0"/>
              <a:t> and reported that </a:t>
            </a:r>
            <a:r>
              <a:rPr lang="en-IN" sz="1320" b="1" dirty="0"/>
              <a:t>84.5% of automotive attacks were carried out remotely</a:t>
            </a:r>
            <a:r>
              <a:rPr lang="en-IN" sz="1320" dirty="0"/>
              <a:t>.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E19E23-FE99-28C6-34F4-2D9F4F926CA0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19</a:t>
            </a:r>
            <a:endParaRPr lang="en-A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EF73-286F-A9C8-505B-7117C768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BEC7-3090-DC30-3E7B-A1E7FA9AF544}"/>
              </a:ext>
            </a:extLst>
          </p:cNvPr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7. Hyperparameters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46A2-8158-1E70-9194-F4C5664BE46D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ABA9-91A9-74FE-2D11-037C1AD4790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10</a:t>
            </a:r>
            <a:endParaRPr lang="en-AE" dirty="0"/>
          </a:p>
        </p:txBody>
      </p:sp>
      <p:graphicFrame>
        <p:nvGraphicFramePr>
          <p:cNvPr id="40" name="Hyperparameters Table"/>
          <p:cNvGraphicFramePr>
            <a:graphicFrameLocks noGrp="1"/>
          </p:cNvGraphicFramePr>
          <p:nvPr/>
        </p:nvGraphicFramePr>
        <p:xfrm>
          <a:off x="502920" y="1500000"/>
          <a:ext cx="11109960" cy="4712000"/>
        </p:xfrm>
        <a:graphic>
          <a:graphicData uri="http://schemas.openxmlformats.org/drawingml/2006/table">
            <a:tbl>
              <a:tblPr firstRow="1" bandRow="0"/>
              <a:tblGrid>
                <a:gridCol w="3600000"/>
                <a:gridCol w="750996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Hyperparameter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Value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Sequence window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32-frame context window; 256-frame blocks for the leakage-controlled split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Input features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CAN payload bytes; CAN ID included and excluded variants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Train / Val / Test split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70 / 15 / 15 percent, block-based and stratified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GRU Digital Twin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 GRU layer, 96 hidden units, 16-dimensional CAN-ID embedding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Digital Twin objective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Mean squared error on the next CAN payload (MAE reported as the metric)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CNN block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64 filters, kernels 5 then 3, ReLU activation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BiLSTM block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96 hidden units, bidirectional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Dropout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0.3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Classifier loss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Class-weighted cross entropy (about 152:1 imbalance)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Optimizer / Learning rate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Adam, 0.001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4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Batch size / Epochs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4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512 / 6 epochs, best validation macro-F1 checkpoint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340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EF73-286F-A9C8-505B-7117C768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BEC7-3090-DC30-3E7B-A1E7FA9AF544}"/>
              </a:ext>
            </a:extLst>
          </p:cNvPr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9. Results: Detection of an Unseen Attack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46A2-8158-1E70-9194-F4C5664BE46D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00000"/>
            <a:ext cx="11109960" cy="8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800" dirty="0">
                <a:latin typeface="Book Antiqua" panose="02040602050305030304" pitchFamily="18" charset="0"/>
              </a:rPr>
              <a:t>Brake tampering is quarantined from four places: the label space, every training context window, the Digital Twin's per-ECU history and the gate's calibration set. Detection is measured on its 119 held-out test frames, false alarms on 15,063 normal test frames.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ABA9-91A9-74FE-2D11-037C1AD4790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12</a:t>
            </a:r>
            <a:endParaRPr lang="en-AE" dirty="0"/>
          </a:p>
        </p:txBody>
      </p:sp>
      <p:graphicFrame>
        <p:nvGraphicFramePr>
          <p:cNvPr id="205" name="Zero-day results"/>
          <p:cNvGraphicFramePr>
            <a:graphicFrameLocks noGrp="1"/>
          </p:cNvGraphicFramePr>
          <p:nvPr/>
        </p:nvGraphicFramePr>
        <p:xfrm>
          <a:off x="502920" y="2400000"/>
          <a:ext cx="6250000" cy="2150000"/>
        </p:xfrm>
        <a:graphic>
          <a:graphicData uri="http://schemas.openxmlformats.org/drawingml/2006/table">
            <a:tbl>
              <a:tblPr firstRow="1" bandRow="0"/>
              <a:tblGrid>
                <a:gridCol w="2250000"/>
                <a:gridCol w="1350000"/>
                <a:gridCol w="1350000"/>
                <a:gridCol w="1300000"/>
              </a:tblGrid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Model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False alarms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Known macro-F1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CNN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0.84%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0.03%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0.6667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BiLSTM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0.00%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0.08%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0.7607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CNN-BiLSTM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25.21%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0.31%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0.7787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TwinShield-Fusion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2.26%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0.7829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22" name="Unseen-attack detection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0000" y="2300000"/>
            <a:ext cx="4600000" cy="319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40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3EF73-286F-A9C8-505B-7117C768E4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2AEBEC7-3090-DC30-3E7B-A1E7FA9AF544}"/>
              </a:ext>
            </a:extLst>
          </p:cNvPr>
          <p:cNvSpPr txBox="1"/>
          <p:nvPr/>
        </p:nvSpPr>
        <p:spPr>
          <a:xfrm>
            <a:off x="502920" y="256032"/>
            <a:ext cx="11109960" cy="5309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2850" b="1" dirty="0">
                <a:solidFill>
                  <a:srgbClr val="1C1C1C"/>
                </a:solidFill>
                <a:latin typeface="Aptos"/>
              </a:rPr>
              <a:t>11. Results: Generalisation to a Second Dataset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1FA46A2-8158-1E70-9194-F4C5664BE46D}"/>
              </a:ext>
            </a:extLst>
          </p:cNvPr>
          <p:cNvSpPr/>
          <p:nvPr/>
        </p:nvSpPr>
        <p:spPr>
          <a:xfrm>
            <a:off x="502920" y="1143000"/>
            <a:ext cx="11109960" cy="16459"/>
          </a:xfrm>
          <a:prstGeom prst="rect">
            <a:avLst/>
          </a:prstGeom>
          <a:solidFill>
            <a:srgbClr val="D7D7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300000"/>
            <a:ext cx="11109960" cy="8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sz="1800" dirty="0">
                <a:latin typeface="Book Antiqua" panose="02040602050305030304" pitchFamily="18" charset="0"/>
              </a:rPr>
              <a:t>The whole protocol re-run on SynCAN (ETAS), 250,000 frames converted to the GEM-CAN schema. Every SynCAN attack keeps its signals inside the normal operating range, so the twin's residual barely moves and the gate does not transfer. An 8-bit control rules out the conversion: it makes the twin five times more accurate and leaves detection unchanged.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73ABA9-91A9-74FE-2D11-037C1AD4790D}"/>
              </a:ext>
            </a:extLst>
          </p:cNvPr>
          <p:cNvSpPr txBox="1"/>
          <p:nvPr/>
        </p:nvSpPr>
        <p:spPr>
          <a:xfrm>
            <a:off x="11713779" y="648078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14</a:t>
            </a:r>
            <a:endParaRPr lang="en-AE" dirty="0"/>
          </a:p>
        </p:txBody>
      </p:sp>
      <p:graphicFrame>
        <p:nvGraphicFramePr>
          <p:cNvPr id="386" name="SynCAN results"/>
          <p:cNvGraphicFramePr>
            <a:graphicFrameLocks noGrp="1"/>
          </p:cNvGraphicFramePr>
          <p:nvPr/>
        </p:nvGraphicFramePr>
        <p:xfrm>
          <a:off x="502920" y="2600000"/>
          <a:ext cx="6250000" cy="2150000"/>
        </p:xfrm>
        <a:graphic>
          <a:graphicData uri="http://schemas.openxmlformats.org/drawingml/2006/table">
            <a:tbl>
              <a:tblPr firstRow="1" bandRow="0"/>
              <a:tblGrid>
                <a:gridCol w="3050000"/>
                <a:gridCol w="1600000"/>
                <a:gridCol w="1600000"/>
              </a:tblGrid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Quarantined attack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Detected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Book Antiqua" panose="02040602050305030304" pitchFamily="18" charset="0"/>
                        </a:rPr>
                        <a:t>False alarms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3F5570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SynCAN flooding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7.07%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2.94%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SynCAN plateau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1.56%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1.47%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SynCAN continuous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2.60%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1.45%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  <a:solidFill>
                      <a:srgbClr val="F2F6FA"/>
                    </a:solidFill>
                  </a:tcPr>
                </a:tc>
              </a:tr>
              <a:tr h="392000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3F5570"/>
                          </a:solidFill>
                          <a:latin typeface="Book Antiqua" panose="02040602050305030304" pitchFamily="18" charset="0"/>
                        </a:rPr>
                        <a:t>GEM-CAN brake tampering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100.00%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1" dirty="0">
                          <a:solidFill>
                            <a:srgbClr val="1C1C1C"/>
                          </a:solidFill>
                          <a:latin typeface="Book Antiqua" panose="02040602050305030304" pitchFamily="18" charset="0"/>
                        </a:rPr>
                        <a:t>2.26%</a:t>
                      </a:r>
                    </a:p>
                  </a:txBody>
                  <a:tcPr marL="91440" marR="91440" marT="45720" marB="45720" anchor="ctr">
                    <a:lnL w="6350" cap="flat">
                      <a:solidFill>
                        <a:srgbClr val="C9D4E2"/>
                      </a:solidFill>
                    </a:lnL>
                    <a:lnR w="6350" cap="flat">
                      <a:solidFill>
                        <a:srgbClr val="C9D4E2"/>
                      </a:solidFill>
                    </a:lnR>
                    <a:lnT w="6350" cap="flat">
                      <a:solidFill>
                        <a:srgbClr val="C9D4E2"/>
                      </a:solidFill>
                    </a:lnT>
                    <a:lnB w="6350" cap="flat">
                      <a:solidFill>
                        <a:srgbClr val="C9D4E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97" name="SynCAN residual rat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0000" y="2450000"/>
            <a:ext cx="3600000" cy="315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403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912</TotalTime>
  <Words>1750</Words>
  <Application>Microsoft Office PowerPoint</Application>
  <PresentationFormat>Widescreen</PresentationFormat>
  <Paragraphs>149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Book Antiqua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Ramya Nakshathra</cp:lastModifiedBy>
  <cp:revision>11</cp:revision>
  <dcterms:created xsi:type="dcterms:W3CDTF">2013-01-27T09:14:16Z</dcterms:created>
  <dcterms:modified xsi:type="dcterms:W3CDTF">2026-08-19T15:01:39Z</dcterms:modified>
  <cp:category/>
</cp:coreProperties>
</file>